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4" r:id="rId2"/>
    <p:sldId id="305" r:id="rId3"/>
    <p:sldId id="262" r:id="rId4"/>
    <p:sldId id="263" r:id="rId5"/>
    <p:sldId id="264" r:id="rId6"/>
    <p:sldId id="266" r:id="rId7"/>
    <p:sldId id="268" r:id="rId8"/>
    <p:sldId id="270" r:id="rId9"/>
    <p:sldId id="27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11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61219-1AB1-4638-A1F2-59BCF6311312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AE5D5-E4AC-4777-BF3C-08AA12484A9F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BB6DF-6B4F-4B0B-951C-3124D08767B9}" type="slidenum">
              <a:rPr lang="fr-FR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fr-FR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F5722-794C-40CA-B652-3CCACB325CA3}" type="datetimeFigureOut">
              <a:rPr lang="fr-FR" smtClean="0"/>
              <a:pPr/>
              <a:t>15/11/2023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797A7-AA72-4CD0-8953-D5A37F1D645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708920"/>
            <a:ext cx="9144000" cy="1008112"/>
          </a:xfrm>
          <a:solidFill>
            <a:srgbClr val="FFFF00"/>
          </a:solidFill>
        </p:spPr>
        <p:txBody>
          <a:bodyPr/>
          <a:lstStyle/>
          <a:p>
            <a:pPr eaLnBrk="1" hangingPunct="1"/>
            <a:r>
              <a:rPr lang="fr-FR" b="1" dirty="0" smtClean="0">
                <a:solidFill>
                  <a:schemeClr val="tx1"/>
                </a:solidFill>
              </a:rPr>
              <a:t>GEOCHRONOLOGIE  RELATIVE</a:t>
            </a:r>
          </a:p>
        </p:txBody>
      </p:sp>
    </p:spTree>
    <p:extLst>
      <p:ext uri="{BB962C8B-B14F-4D97-AF65-F5344CB8AC3E}">
        <p14:creationId xmlns:p14="http://schemas.microsoft.com/office/powerpoint/2010/main" xmlns="" val="807176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1520" y="476672"/>
            <a:ext cx="3557180" cy="3457803"/>
          </a:xfrm>
          <a:solidFill>
            <a:srgbClr val="FFFF00"/>
          </a:solidFill>
        </p:spPr>
        <p:txBody>
          <a:bodyPr>
            <a:noAutofit/>
          </a:bodyPr>
          <a:lstStyle/>
          <a:p>
            <a:pPr marL="55459">
              <a:lnSpc>
                <a:spcPts val="1088"/>
              </a:lnSpc>
            </a:pPr>
            <a:r>
              <a:rPr lang="fr-FR" sz="2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Fig1: </a:t>
            </a:r>
            <a:r>
              <a:rPr lang="fr-FR" sz="2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structure</a:t>
            </a:r>
            <a:r>
              <a:rPr lang="fr-FR" sz="2200" b="1" spc="-19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tabulaire.</a:t>
            </a:r>
            <a:endParaRPr lang="fr-FR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fr-FR" sz="2200" spc="1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200" spc="1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ici</a:t>
            </a:r>
            <a:r>
              <a:rPr lang="fr-FR" sz="2200" spc="14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une</a:t>
            </a:r>
            <a:r>
              <a:rPr lang="fr-FR" sz="2200" spc="1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séquence</a:t>
            </a:r>
            <a:r>
              <a:rPr lang="fr-FR" sz="2200" spc="14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sédimentaire</a:t>
            </a:r>
            <a:r>
              <a:rPr lang="fr-FR" sz="2200" spc="10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transgressive</a:t>
            </a:r>
            <a:r>
              <a:rPr lang="fr-FR" sz="2200" spc="-8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continue</a:t>
            </a:r>
            <a:r>
              <a:rPr lang="fr-FR" sz="2200" spc="8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D) dont la</a:t>
            </a:r>
            <a:r>
              <a:rPr lang="fr-FR" sz="2200" spc="-8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couche</a:t>
            </a:r>
            <a:r>
              <a:rPr lang="fr-FR" sz="2200" spc="8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200" spc="199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fr-FR" sz="2200" spc="129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fr-FR" sz="2200" spc="129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plus</a:t>
            </a:r>
            <a:r>
              <a:rPr lang="fr-FR" sz="2200" spc="133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ancienne</a:t>
            </a:r>
            <a:r>
              <a:rPr lang="fr-FR" sz="2200" spc="129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</a:t>
            </a:r>
            <a:r>
              <a:rPr lang="fr-FR" sz="2200" spc="133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200" spc="12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fr-FR" sz="2200" spc="129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plus</a:t>
            </a:r>
            <a:r>
              <a:rPr lang="fr-FR" sz="2200" spc="12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récente</a:t>
            </a:r>
            <a:r>
              <a:rPr lang="fr-FR" sz="2200" spc="78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(principe</a:t>
            </a:r>
            <a:r>
              <a:rPr lang="fr-FR" sz="2200" spc="82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fr-FR" sz="2200" spc="7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superposition)</a:t>
            </a:r>
            <a:r>
              <a:rPr lang="fr-FR" sz="2200" spc="86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</a:t>
            </a:r>
            <a:r>
              <a:rPr lang="fr-FR" sz="2200" spc="82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</a:t>
            </a:r>
            <a:r>
              <a:rPr lang="fr-FR" sz="2200" spc="7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contact</a:t>
            </a:r>
            <a:r>
              <a:rPr lang="fr-FR" sz="2200" spc="86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entre</a:t>
            </a:r>
            <a:r>
              <a:rPr lang="fr-FR" sz="2200" spc="203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les</a:t>
            </a:r>
            <a:r>
              <a:rPr lang="fr-FR" sz="2200" spc="-23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couches</a:t>
            </a:r>
            <a:r>
              <a:rPr lang="fr-FR" sz="2200" spc="-16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fr-FR" sz="2200" spc="-16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à</a:t>
            </a:r>
            <a:r>
              <a:rPr lang="fr-FR" sz="2200" spc="-23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fr-FR" sz="2200" spc="-19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fr-FR" sz="2200" spc="-19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2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concordant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2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1536" y="318273"/>
            <a:ext cx="4822705" cy="622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96643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71049" y="318273"/>
            <a:ext cx="4703676" cy="5960609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55459" algn="just">
              <a:lnSpc>
                <a:spcPts val="1088"/>
              </a:lnSpc>
            </a:pPr>
            <a:r>
              <a:rPr lang="fr-FR" sz="2000" b="1" u="sng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Fig2: </a:t>
            </a:r>
            <a:r>
              <a:rPr lang="fr-FR" sz="1900" b="1" u="sng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discordance</a:t>
            </a:r>
            <a:r>
              <a:rPr lang="fr-FR" sz="1900" b="1" u="sng" spc="-27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majeure</a:t>
            </a:r>
            <a:r>
              <a:rPr lang="fr-FR" sz="1900" b="1" u="sng" spc="-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sur</a:t>
            </a:r>
            <a:r>
              <a:rPr lang="fr-FR" sz="1900" b="1" u="sng" spc="-2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un</a:t>
            </a:r>
            <a:r>
              <a:rPr lang="fr-FR" sz="1900" b="1" u="sng" spc="-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socle.</a:t>
            </a:r>
          </a:p>
          <a:p>
            <a:pPr marL="55459" indent="350582" algn="just">
              <a:spcBef>
                <a:spcPts val="55"/>
              </a:spcBef>
            </a:pPr>
            <a:endParaRPr lang="fr-FR" sz="1900" spc="-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55459" indent="350582" algn="just">
              <a:spcBef>
                <a:spcPts val="55"/>
              </a:spcBef>
            </a:pP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1) Soulèvement</a:t>
            </a:r>
            <a:r>
              <a:rPr lang="fr-FR" sz="1900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d'un</a:t>
            </a:r>
            <a:r>
              <a:rPr lang="fr-FR" sz="1900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socle).</a:t>
            </a:r>
            <a:r>
              <a:rPr lang="fr-FR" sz="1900" spc="9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459" indent="350582" algn="just">
              <a:spcBef>
                <a:spcPts val="55"/>
              </a:spcBef>
            </a:pPr>
            <a:endParaRPr lang="fr-FR" sz="1900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55459" indent="350582" algn="just">
              <a:spcBef>
                <a:spcPts val="55"/>
              </a:spcBef>
            </a:pP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2)</a:t>
            </a:r>
            <a:r>
              <a:rPr lang="fr-FR" sz="1900" spc="9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régression</a:t>
            </a:r>
            <a:r>
              <a:rPr lang="fr-FR" sz="1900" spc="26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marine.</a:t>
            </a:r>
            <a:r>
              <a:rPr lang="fr-FR" sz="1900" spc="15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459" indent="350582" algn="just">
              <a:spcBef>
                <a:spcPts val="55"/>
              </a:spcBef>
            </a:pPr>
            <a:endParaRPr lang="fr-FR" sz="1900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55459" indent="350582" algn="just">
              <a:spcBef>
                <a:spcPts val="55"/>
              </a:spcBef>
            </a:pP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3)</a:t>
            </a:r>
            <a:r>
              <a:rPr lang="fr-FR" sz="1900" spc="14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érosion</a:t>
            </a:r>
            <a:r>
              <a:rPr lang="fr-FR" sz="1900" spc="14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longue.</a:t>
            </a:r>
            <a:r>
              <a:rPr lang="fr-FR" sz="1900" spc="15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459" indent="350582" algn="just">
              <a:spcBef>
                <a:spcPts val="55"/>
              </a:spcBef>
            </a:pPr>
            <a:endParaRPr lang="fr-FR" sz="1900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55459" indent="350582" algn="just">
              <a:spcBef>
                <a:spcPts val="55"/>
              </a:spcBef>
            </a:pP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4)</a:t>
            </a:r>
            <a:r>
              <a:rPr lang="fr-FR" sz="1900" spc="14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transgression</a:t>
            </a:r>
            <a:r>
              <a:rPr lang="fr-FR" sz="1900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marine</a:t>
            </a:r>
            <a:r>
              <a:rPr lang="fr-FR" sz="1900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459" indent="350582" algn="just">
              <a:spcBef>
                <a:spcPts val="55"/>
              </a:spcBef>
            </a:pPr>
            <a:endParaRPr lang="fr-FR" sz="1900" spc="-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55459" indent="350582" algn="just">
              <a:spcBef>
                <a:spcPts val="55"/>
              </a:spcBef>
            </a:pPr>
            <a:r>
              <a:rPr lang="fr-FR" sz="1900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5)</a:t>
            </a:r>
            <a:r>
              <a:rPr lang="fr-FR" sz="1900" spc="12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sédimentation</a:t>
            </a:r>
            <a:r>
              <a:rPr lang="fr-FR" sz="1900" spc="10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d'une</a:t>
            </a:r>
            <a:r>
              <a:rPr lang="fr-FR" sz="1900" spc="11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séquence</a:t>
            </a:r>
            <a:r>
              <a:rPr lang="fr-FR" sz="1900" spc="12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sédimentaire</a:t>
            </a:r>
            <a:r>
              <a:rPr lang="fr-FR" sz="1900" spc="12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(A</a:t>
            </a:r>
            <a:r>
              <a:rPr lang="fr-FR" sz="1900" spc="13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à</a:t>
            </a:r>
            <a:r>
              <a:rPr lang="fr-FR" sz="1900" spc="14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D)</a:t>
            </a:r>
            <a:r>
              <a:rPr lang="fr-FR" sz="1900" spc="12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dont</a:t>
            </a:r>
            <a:r>
              <a:rPr lang="fr-FR" sz="1900" spc="13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900" spc="12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couche</a:t>
            </a:r>
            <a:r>
              <a:rPr lang="fr-FR" sz="1900" spc="14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</a:t>
            </a:r>
            <a:r>
              <a:rPr lang="fr-FR" sz="1900" spc="13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est</a:t>
            </a:r>
            <a:r>
              <a:rPr lang="fr-FR" sz="1900" spc="13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900" spc="9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sz="1900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ancienne</a:t>
            </a:r>
            <a:r>
              <a:rPr lang="fr-FR" sz="1900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spc="6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</a:t>
            </a:r>
            <a:r>
              <a:rPr lang="fr-FR" sz="1900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900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sz="1900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récente</a:t>
            </a:r>
            <a:r>
              <a:rPr lang="fr-FR" sz="1900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(principe</a:t>
            </a:r>
            <a:r>
              <a:rPr lang="fr-FR" sz="1900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900" spc="14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superposition).</a:t>
            </a:r>
            <a:r>
              <a:rPr lang="fr-FR" sz="1900" spc="10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1900" spc="9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contact</a:t>
            </a:r>
            <a:r>
              <a:rPr lang="fr-FR" sz="1900" spc="10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entre</a:t>
            </a:r>
            <a:r>
              <a:rPr lang="fr-FR" sz="1900" spc="9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1900" spc="10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socle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spc="10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</a:t>
            </a:r>
            <a:r>
              <a:rPr lang="fr-FR" sz="1900" spc="14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est</a:t>
            </a:r>
            <a:r>
              <a:rPr lang="fr-FR" sz="1900" spc="10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discordant,</a:t>
            </a:r>
            <a:r>
              <a:rPr lang="fr-FR" sz="1900" spc="10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c'est</a:t>
            </a:r>
            <a:r>
              <a:rPr lang="fr-FR" sz="1900" spc="11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une</a:t>
            </a:r>
            <a:r>
              <a:rPr lang="fr-FR" sz="1900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surface</a:t>
            </a:r>
            <a:r>
              <a:rPr lang="fr-FR" sz="1900" spc="10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900" spc="8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discordance</a:t>
            </a:r>
            <a:r>
              <a:rPr lang="fr-FR" spc="-4" dirty="0"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rPr>
              <a:t>.</a:t>
            </a:r>
            <a:endParaRPr lang="fr-FR" dirty="0" smtClean="0">
              <a:effectLst/>
              <a:latin typeface="Comic Sans MS" panose="030F0702030302020204" pitchFamily="66" charset="0"/>
              <a:ea typeface="Comic Sans MS" panose="030F0702030302020204" pitchFamily="66" charset="0"/>
              <a:cs typeface="Arial" panose="020B0604020202020204" pitchFamily="34" charset="0"/>
            </a:endParaRPr>
          </a:p>
          <a:p>
            <a:pPr marL="579352" marR="65363" lvl="1" indent="-222828" algn="just">
              <a:buSzPts val="1000"/>
              <a:buFont typeface="Comic Sans MS" panose="030F0702030302020204" pitchFamily="66" charset="0"/>
              <a:buAutoNum type="arabicParenR"/>
              <a:tabLst>
                <a:tab pos="520922" algn="l"/>
              </a:tabLst>
            </a:pPr>
            <a:endParaRPr lang="fr-FR" spc="-4" dirty="0">
              <a:latin typeface="Comic Sans MS" panose="030F0702030302020204" pitchFamily="66" charset="0"/>
              <a:ea typeface="Comic Sans MS" panose="030F0702030302020204" pitchFamily="66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pic>
        <p:nvPicPr>
          <p:cNvPr id="5" name="image6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74725" y="318273"/>
            <a:ext cx="3805871" cy="622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658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1033" y="366632"/>
            <a:ext cx="144067" cy="348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1305" tIns="35652" rIns="71305" bIns="35652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44857271"/>
              </p:ext>
            </p:extLst>
          </p:nvPr>
        </p:nvGraphicFramePr>
        <p:xfrm>
          <a:off x="5762057" y="318273"/>
          <a:ext cx="3261778" cy="6221453"/>
        </p:xfrm>
        <a:graphic>
          <a:graphicData uri="http://schemas.openxmlformats.org/presentationml/2006/ole">
            <p:oleObj spid="_x0000_s5122" name="Image bitmap" r:id="rId3" imgW="2980952" imgH="1762371" progId="PBrush">
              <p:embed/>
            </p:oleObj>
          </a:graphicData>
        </a:graphic>
      </p:graphicFrame>
      <p:sp>
        <p:nvSpPr>
          <p:cNvPr id="7" name="Rectangle 6"/>
          <p:cNvSpPr/>
          <p:nvPr/>
        </p:nvSpPr>
        <p:spPr>
          <a:xfrm>
            <a:off x="271051" y="550362"/>
            <a:ext cx="5491006" cy="5196480"/>
          </a:xfrm>
          <a:prstGeom prst="rect">
            <a:avLst/>
          </a:prstGeom>
          <a:solidFill>
            <a:srgbClr val="FFFF00"/>
          </a:solidFill>
        </p:spPr>
        <p:txBody>
          <a:bodyPr wrap="square" lIns="71305" tIns="35652" rIns="71305" bIns="35652">
            <a:spAutoFit/>
          </a:bodyPr>
          <a:lstStyle/>
          <a:p>
            <a:pPr marL="55459" marR="495" algn="just"/>
            <a:r>
              <a:rPr lang="fr-FR" sz="1900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Fig.</a:t>
            </a:r>
            <a:r>
              <a:rPr lang="fr-FR" sz="1900" b="1" u="sng" spc="21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3:</a:t>
            </a:r>
            <a:r>
              <a:rPr lang="fr-FR" sz="1900" b="1" u="sng" spc="226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structure</a:t>
            </a:r>
            <a:r>
              <a:rPr lang="fr-FR" sz="1900" b="1" u="sng" spc="-1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Faillée.</a:t>
            </a:r>
          </a:p>
          <a:p>
            <a:pPr lvl="1" algn="just">
              <a:buSzPts val="1000"/>
              <a:tabLst>
                <a:tab pos="682348" algn="l"/>
              </a:tabLst>
            </a:pP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1) Une</a:t>
            </a:r>
            <a:r>
              <a:rPr lang="fr-FR" sz="1900" b="1" spc="9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séquence</a:t>
            </a:r>
            <a:r>
              <a:rPr lang="fr-FR" sz="1900" b="1" spc="9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sédimentaire transgressive</a:t>
            </a:r>
            <a:r>
              <a:rPr lang="fr-FR" sz="1900" b="1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continue</a:t>
            </a:r>
            <a:r>
              <a:rPr lang="fr-FR" sz="1900" b="1" spc="11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(A</a:t>
            </a:r>
            <a:r>
              <a:rPr lang="fr-FR" sz="1900" b="1" spc="12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, B, D et</a:t>
            </a:r>
            <a:r>
              <a:rPr lang="fr-FR" sz="1900" b="1" spc="11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E)</a:t>
            </a:r>
            <a:r>
              <a:rPr lang="fr-FR" sz="1900" b="1" spc="15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dont</a:t>
            </a:r>
            <a:r>
              <a:rPr lang="fr-FR" sz="1900" b="1" spc="14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900" b="1" spc="14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couche</a:t>
            </a:r>
            <a:r>
              <a:rPr lang="fr-FR" sz="1900" b="1" spc="14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</a:t>
            </a:r>
            <a:r>
              <a:rPr lang="fr-FR" sz="1900" b="1" spc="14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est</a:t>
            </a:r>
            <a:r>
              <a:rPr lang="fr-FR" sz="1900" b="1" spc="14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900" b="1" spc="14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sz="1900" b="1" spc="14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ancienne</a:t>
            </a:r>
            <a:r>
              <a:rPr lang="fr-FR" sz="1900" b="1" spc="14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b="1" spc="14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</a:t>
            </a:r>
            <a:r>
              <a:rPr lang="fr-FR" sz="1900" b="1" spc="14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900" b="1" spc="12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récente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(principe</a:t>
            </a:r>
            <a:r>
              <a:rPr lang="fr-FR" sz="19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superposition).</a:t>
            </a:r>
            <a:r>
              <a:rPr lang="fr-FR" sz="19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SzPts val="1000"/>
              <a:tabLst>
                <a:tab pos="682348" algn="l"/>
              </a:tabLst>
            </a:pPr>
            <a:endParaRPr lang="fr-FR" sz="1900" b="1" spc="-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682348" algn="l"/>
              </a:tabLst>
            </a:pP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2)</a:t>
            </a:r>
            <a:r>
              <a:rPr lang="fr-FR" sz="19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 dyke C (principe</a:t>
            </a:r>
            <a:r>
              <a:rPr lang="fr-FR" sz="19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recoupement).</a:t>
            </a:r>
            <a:r>
              <a:rPr lang="fr-FR" sz="1900" b="1" spc="16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SzPts val="1000"/>
              <a:tabLst>
                <a:tab pos="682348" algn="l"/>
              </a:tabLst>
            </a:pPr>
            <a:endParaRPr lang="fr-FR" sz="1900" b="1" spc="160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682348" algn="l"/>
              </a:tabLst>
            </a:pP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3)</a:t>
            </a:r>
            <a:r>
              <a:rPr lang="fr-FR" sz="1900" b="1" spc="16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 faille normale H (principe</a:t>
            </a:r>
            <a:r>
              <a:rPr lang="fr-FR" sz="19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recoupement).</a:t>
            </a:r>
            <a:r>
              <a:rPr lang="fr-FR" sz="1900" b="1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SzPts val="1000"/>
              <a:tabLst>
                <a:tab pos="682348" algn="l"/>
              </a:tabLst>
            </a:pPr>
            <a:endParaRPr lang="fr-FR" sz="1900" b="1" spc="62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682348" algn="l"/>
              </a:tabLst>
            </a:pPr>
            <a:r>
              <a:rPr lang="fr-FR" sz="1900" b="1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4) régression suivie de l’érosion partielle de la couche E et du dyke C ;</a:t>
            </a:r>
          </a:p>
          <a:p>
            <a:pPr lvl="1" algn="just">
              <a:buSzPts val="1000"/>
              <a:tabLst>
                <a:tab pos="682348" algn="l"/>
              </a:tabLst>
            </a:pPr>
            <a:r>
              <a:rPr lang="fr-FR" sz="1900" b="1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5) transgression  et dépôt de la série F-G. </a:t>
            </a:r>
          </a:p>
          <a:p>
            <a:pPr lvl="1" algn="just">
              <a:buSzPts val="1000"/>
              <a:tabLst>
                <a:tab pos="682348" algn="l"/>
              </a:tabLst>
            </a:pPr>
            <a:endParaRPr lang="fr-FR" sz="1900" b="1" spc="62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682348" algn="l"/>
              </a:tabLst>
            </a:pPr>
            <a:r>
              <a:rPr lang="fr-FR" sz="1900" b="1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6) </a:t>
            </a:r>
            <a:r>
              <a:rPr lang="fr-FR" sz="19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1900" b="1" spc="5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contact</a:t>
            </a:r>
            <a:r>
              <a:rPr lang="fr-FR" sz="1900" b="1" spc="8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entre</a:t>
            </a:r>
            <a:r>
              <a:rPr lang="fr-FR" sz="1900" b="1" spc="5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</a:t>
            </a:r>
            <a:r>
              <a:rPr lang="fr-FR" sz="19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les</a:t>
            </a:r>
            <a:r>
              <a:rPr lang="fr-FR" sz="19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couches</a:t>
            </a:r>
            <a:r>
              <a:rPr lang="fr-FR" sz="1900" b="1" spc="6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en-dessous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est</a:t>
            </a:r>
            <a:r>
              <a:rPr lang="fr-FR" sz="19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une</a:t>
            </a:r>
            <a:r>
              <a:rPr lang="fr-FR" sz="1900" b="1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discordance</a:t>
            </a:r>
            <a:r>
              <a:rPr lang="fr-FR" sz="1900" b="1" spc="-9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simple.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74305" y="327518"/>
            <a:ext cx="767891" cy="408246"/>
          </a:xfrm>
          <a:prstGeom prst="rect">
            <a:avLst/>
          </a:prstGeom>
          <a:solidFill>
            <a:schemeClr val="accent2"/>
          </a:solidFill>
        </p:spPr>
        <p:txBody>
          <a:bodyPr wrap="none" lIns="71305" tIns="35652" rIns="71305" bIns="35652">
            <a:spAutoFit/>
          </a:bodyPr>
          <a:lstStyle/>
          <a:p>
            <a:pPr algn="ctr">
              <a:lnSpc>
                <a:spcPct val="115000"/>
              </a:lnSpc>
              <a:spcAft>
                <a:spcPts val="780"/>
              </a:spcAft>
            </a:pPr>
            <a:r>
              <a:rPr lang="fr-FR" sz="1900" spc="-4" dirty="0">
                <a:latin typeface="Comic Sans MS" panose="030F0702030302020204" pitchFamily="66" charset="0"/>
                <a:ea typeface="Calibri" panose="020F0502020204030204" pitchFamily="34" charset="0"/>
                <a:cs typeface="Arial" panose="020B0604020202020204" pitchFamily="34" charset="0"/>
              </a:rPr>
              <a:t>Fig.</a:t>
            </a:r>
            <a:r>
              <a:rPr lang="fr-FR" sz="1900" spc="-19" dirty="0">
                <a:latin typeface="Comic Sans MS" panose="030F0702030302020204" pitchFamily="66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900" dirty="0" smtClean="0">
                <a:latin typeface="Comic Sans MS" panose="030F0702030302020204" pitchFamily="66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endParaRPr lang="fr-FR" sz="19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526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71050" y="318273"/>
            <a:ext cx="5407468" cy="6017842"/>
          </a:xfrm>
          <a:solidFill>
            <a:srgbClr val="FFFF00"/>
          </a:solidFill>
        </p:spPr>
        <p:txBody>
          <a:bodyPr>
            <a:noAutofit/>
          </a:bodyPr>
          <a:lstStyle/>
          <a:p>
            <a:pPr marL="55459" marR="990" algn="just"/>
            <a:r>
              <a:rPr lang="fr-FR" sz="1900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Fig.</a:t>
            </a:r>
            <a:r>
              <a:rPr lang="fr-FR" sz="1900" b="1" u="sng" spc="21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4</a:t>
            </a:r>
            <a:r>
              <a:rPr lang="fr-FR" sz="1900" b="1" u="sng" spc="-8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:</a:t>
            </a:r>
            <a:r>
              <a:rPr lang="fr-FR" sz="1900" b="1" u="sng" spc="22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discordance</a:t>
            </a:r>
            <a:r>
              <a:rPr lang="fr-FR" sz="1900" b="1" u="sng" spc="22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angulaire</a:t>
            </a:r>
            <a:r>
              <a:rPr lang="fr-FR" sz="1900" b="1" u="sng" spc="21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sur</a:t>
            </a:r>
            <a:r>
              <a:rPr lang="fr-FR" sz="1900" b="1" u="sng" spc="21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une</a:t>
            </a:r>
            <a:r>
              <a:rPr lang="fr-FR" sz="1900" b="1" u="sng" spc="13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structure</a:t>
            </a:r>
            <a:r>
              <a:rPr lang="fr-FR" sz="1900" b="1" u="sng" spc="-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plissée</a:t>
            </a:r>
            <a:endParaRPr lang="fr-FR" sz="1900" b="1" u="sng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411984" marR="990" indent="-356525" algn="just">
              <a:buAutoNum type="arabicParenR"/>
            </a:pP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Une</a:t>
            </a:r>
            <a:r>
              <a:rPr lang="fr-FR" sz="1900" b="1" spc="10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séquence</a:t>
            </a:r>
            <a:r>
              <a:rPr lang="fr-FR" sz="1900" b="1" spc="10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sédimentaire</a:t>
            </a:r>
            <a:r>
              <a:rPr lang="fr-FR" sz="1900" b="1" spc="8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transgressive</a:t>
            </a:r>
            <a:r>
              <a:rPr lang="fr-FR" sz="1900" b="1" spc="-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continue</a:t>
            </a:r>
            <a:r>
              <a:rPr lang="fr-FR" sz="1900" b="1" spc="-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(A à</a:t>
            </a:r>
            <a:r>
              <a:rPr lang="fr-FR" sz="1900" b="1" spc="-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peut-être</a:t>
            </a:r>
            <a:r>
              <a:rPr lang="fr-FR" sz="1900" b="1" spc="-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 </a:t>
            </a:r>
            <a:r>
              <a:rPr lang="fr-FR" sz="1900" b="1" spc="-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dont</a:t>
            </a:r>
            <a:r>
              <a:rPr lang="fr-FR" sz="19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9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couche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</a:t>
            </a:r>
            <a:r>
              <a:rPr lang="fr-FR" sz="19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est</a:t>
            </a:r>
            <a:r>
              <a:rPr lang="fr-FR" sz="19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sz="19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ancienne</a:t>
            </a:r>
            <a:r>
              <a:rPr lang="fr-FR" sz="19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</a:t>
            </a:r>
            <a:r>
              <a:rPr lang="fr-FR" sz="1900" b="1" spc="3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900" b="1" spc="8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récente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(principe</a:t>
            </a:r>
            <a:r>
              <a:rPr lang="fr-FR" sz="19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superposition)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sur</a:t>
            </a:r>
            <a:r>
              <a:rPr lang="fr-FR" sz="19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un</a:t>
            </a:r>
            <a:r>
              <a:rPr lang="fr-FR" sz="1900" b="1" spc="18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socle</a:t>
            </a:r>
            <a:r>
              <a:rPr lang="fr-FR" sz="1900" b="1" spc="5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459" marR="990" algn="just"/>
            <a:endParaRPr lang="fr-FR" sz="1900" b="1" spc="51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55459" marR="990" algn="just"/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2)</a:t>
            </a:r>
            <a:r>
              <a:rPr lang="fr-FR" sz="1900" b="1" spc="22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plissement</a:t>
            </a:r>
            <a:r>
              <a:rPr lang="fr-FR" sz="1900" b="1" spc="22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b="1" spc="22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soulèvement</a:t>
            </a:r>
            <a:r>
              <a:rPr lang="fr-FR" sz="1900" b="1" spc="22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tectonique</a:t>
            </a:r>
          </a:p>
          <a:p>
            <a:pPr marL="55459" marR="990" algn="just"/>
            <a:r>
              <a:rPr lang="fr-FR" sz="1900" b="1" spc="15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algn="just">
              <a:buSzPts val="1000"/>
              <a:tabLst>
                <a:tab pos="186680" algn="l"/>
              </a:tabLst>
            </a:pPr>
            <a:r>
              <a:rPr lang="fr-FR" sz="1900" b="1" spc="15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3)</a:t>
            </a:r>
            <a:r>
              <a:rPr lang="fr-FR" sz="1900" b="1" spc="10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régression</a:t>
            </a:r>
            <a:r>
              <a:rPr lang="fr-FR" sz="1900" b="1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marine,</a:t>
            </a:r>
            <a:r>
              <a:rPr lang="fr-FR" sz="1900" b="1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endParaRPr lang="fr-FR" sz="1900" b="1" spc="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algn="just">
              <a:buSzPts val="1000"/>
              <a:tabLst>
                <a:tab pos="186680" algn="l"/>
              </a:tabLst>
            </a:pPr>
            <a:endParaRPr lang="fr-FR" sz="1900" b="1" spc="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algn="just">
              <a:buSzPts val="1000"/>
              <a:tabLst>
                <a:tab pos="186680" algn="l"/>
              </a:tabLst>
            </a:pPr>
            <a:r>
              <a:rPr lang="fr-FR" sz="19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4/</a:t>
            </a:r>
            <a:r>
              <a:rPr lang="fr-FR" sz="1900" b="1" spc="10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érosion</a:t>
            </a:r>
            <a:r>
              <a:rPr lang="fr-FR" sz="1900" b="1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partielle</a:t>
            </a:r>
            <a:r>
              <a:rPr lang="fr-FR" sz="1900" b="1" spc="16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des</a:t>
            </a:r>
            <a:r>
              <a:rPr lang="fr-FR" sz="1900" b="1" spc="16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couches</a:t>
            </a:r>
            <a:r>
              <a:rPr lang="fr-FR" sz="1900" b="1" spc="16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B,</a:t>
            </a:r>
            <a:r>
              <a:rPr lang="fr-FR" sz="1900" b="1" spc="17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</a:t>
            </a:r>
            <a:r>
              <a:rPr lang="fr-FR" sz="1900" b="1" spc="16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b="1" spc="17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</a:t>
            </a:r>
            <a:endParaRPr lang="fr-FR" sz="1900" b="1" spc="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algn="just">
              <a:buSzPts val="1000"/>
              <a:tabLst>
                <a:tab pos="186680" algn="l"/>
              </a:tabLst>
            </a:pPr>
            <a:endParaRPr lang="fr-FR" sz="1900" b="1" spc="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algn="just">
              <a:buSzPts val="1000"/>
              <a:tabLst>
                <a:tab pos="186680" algn="l"/>
              </a:tabLst>
            </a:pPr>
            <a:r>
              <a:rPr lang="fr-FR" sz="19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5)</a:t>
            </a:r>
            <a:r>
              <a:rPr lang="fr-FR" sz="1900" b="1" spc="23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transgression</a:t>
            </a:r>
            <a:r>
              <a:rPr lang="fr-FR" sz="1900" b="1" spc="10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marine</a:t>
            </a:r>
            <a:r>
              <a:rPr lang="fr-FR" sz="19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b="1" spc="6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sédimentation</a:t>
            </a:r>
            <a:r>
              <a:rPr lang="fr-FR" sz="19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9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H</a:t>
            </a:r>
            <a:r>
              <a:rPr lang="fr-FR" sz="19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G.</a:t>
            </a:r>
            <a:r>
              <a:rPr lang="fr-FR" sz="1900" b="1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1900" b="1" spc="5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contact</a:t>
            </a:r>
            <a:r>
              <a:rPr lang="fr-FR" sz="1900" b="1" spc="9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entre</a:t>
            </a:r>
            <a:r>
              <a:rPr lang="fr-FR" sz="1900" b="1" spc="2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G</a:t>
            </a:r>
            <a:r>
              <a:rPr lang="fr-FR" sz="19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900" b="1" spc="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les</a:t>
            </a:r>
            <a:r>
              <a:rPr lang="fr-FR" sz="19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autres</a:t>
            </a:r>
            <a:r>
              <a:rPr lang="fr-FR" sz="1900" b="1" spc="16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couches</a:t>
            </a:r>
            <a:r>
              <a:rPr lang="fr-FR" sz="19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est</a:t>
            </a:r>
            <a:r>
              <a:rPr lang="fr-FR" sz="1900" b="1" spc="3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une</a:t>
            </a:r>
            <a:r>
              <a:rPr lang="fr-FR" sz="1900" b="1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discordance</a:t>
            </a:r>
            <a:r>
              <a:rPr lang="fr-FR" sz="1900" b="1" spc="-9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9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angulaire.</a:t>
            </a:r>
          </a:p>
          <a:p>
            <a:endParaRPr lang="fr-FR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8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8518" y="603849"/>
            <a:ext cx="3194433" cy="59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7940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5082" y="318273"/>
            <a:ext cx="5884739" cy="5317133"/>
          </a:xfrm>
          <a:solidFill>
            <a:srgbClr val="FFFF00"/>
          </a:solidFill>
        </p:spPr>
        <p:txBody>
          <a:bodyPr>
            <a:noAutofit/>
          </a:bodyPr>
          <a:lstStyle/>
          <a:p>
            <a:pPr marL="55955" marR="56945" indent="-495" algn="just">
              <a:spcBef>
                <a:spcPts val="66"/>
              </a:spcBef>
            </a:pP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Fig.</a:t>
            </a:r>
            <a:r>
              <a:rPr lang="fr-FR" sz="2500" b="1" spc="17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179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</a:t>
            </a:r>
            <a:endParaRPr lang="fr-FR" sz="2500" b="1" spc="179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55955" marR="56945" indent="-495" algn="just">
              <a:spcBef>
                <a:spcPts val="66"/>
              </a:spcBef>
            </a:pPr>
            <a:endParaRPr lang="fr-FR" sz="2500" b="1" spc="179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411984" marR="56945" indent="-356525" algn="just">
              <a:spcBef>
                <a:spcPts val="66"/>
              </a:spcBef>
              <a:buAutoNum type="arabicParenR"/>
            </a:pP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 couche 1</a:t>
            </a:r>
            <a:r>
              <a:rPr lang="fr-FR" sz="25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2500" b="1" spc="8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sz="2500" b="1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ancienne</a:t>
            </a:r>
            <a:r>
              <a:rPr lang="fr-FR" sz="25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25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3</a:t>
            </a:r>
            <a:r>
              <a:rPr lang="fr-FR" sz="2500" b="1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25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sz="2500" b="1" spc="6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jeune).</a:t>
            </a:r>
          </a:p>
          <a:p>
            <a:pPr marL="55459" marR="56945" algn="just">
              <a:spcBef>
                <a:spcPts val="66"/>
              </a:spcBef>
            </a:pPr>
            <a:endParaRPr lang="fr-FR" sz="2500" b="1" spc="-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55459" marR="56945" algn="just">
              <a:spcBef>
                <a:spcPts val="66"/>
              </a:spcBef>
            </a:pPr>
            <a:r>
              <a:rPr lang="fr-FR" sz="2500" b="1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2)</a:t>
            </a:r>
            <a:r>
              <a:rPr lang="fr-FR" sz="25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Les</a:t>
            </a:r>
            <a:r>
              <a:rPr lang="fr-FR" sz="25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dykes</a:t>
            </a:r>
            <a:r>
              <a:rPr lang="fr-FR" sz="25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4,</a:t>
            </a:r>
            <a:r>
              <a:rPr lang="fr-FR" sz="2500" b="1" spc="5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</a:t>
            </a:r>
            <a:r>
              <a:rPr lang="fr-FR" sz="2500" b="1" spc="13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2500" b="1" spc="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6,</a:t>
            </a:r>
            <a:r>
              <a:rPr lang="fr-FR" sz="25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intrusifs,</a:t>
            </a:r>
            <a:r>
              <a:rPr lang="fr-FR" sz="2500" b="1" spc="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sont</a:t>
            </a:r>
            <a:r>
              <a:rPr lang="fr-FR" sz="2500" b="1" spc="1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sz="25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jeunes</a:t>
            </a:r>
            <a:r>
              <a:rPr lang="fr-FR" sz="2500" b="1" spc="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que</a:t>
            </a:r>
            <a:r>
              <a:rPr lang="fr-FR" sz="25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les</a:t>
            </a:r>
            <a:r>
              <a:rPr lang="fr-FR" sz="2500" b="1" spc="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couches</a:t>
            </a:r>
            <a:r>
              <a:rPr lang="fr-FR" sz="2500" b="1" spc="9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qu’ils</a:t>
            </a:r>
            <a:r>
              <a:rPr lang="fr-FR" sz="2500" b="1" spc="5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recoupent</a:t>
            </a:r>
            <a:r>
              <a:rPr lang="fr-FR" sz="2500" b="1" spc="5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(principe</a:t>
            </a:r>
            <a:r>
              <a:rPr lang="fr-FR" sz="2500" b="1" spc="5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2500" b="1" spc="4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recoupement).</a:t>
            </a:r>
          </a:p>
          <a:p>
            <a:pPr marL="55459" marR="56945" algn="just">
              <a:spcBef>
                <a:spcPts val="66"/>
              </a:spcBef>
            </a:pPr>
            <a:endParaRPr lang="fr-FR" sz="2500" b="1" spc="-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55459" marR="56945" algn="just">
              <a:spcBef>
                <a:spcPts val="66"/>
              </a:spcBef>
            </a:pPr>
            <a:r>
              <a:rPr lang="fr-FR" sz="2500" b="1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2500" b="1" spc="23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plus,</a:t>
            </a:r>
            <a:r>
              <a:rPr lang="fr-FR" sz="25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comme</a:t>
            </a:r>
            <a:r>
              <a:rPr lang="fr-FR" sz="25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25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dyke</a:t>
            </a:r>
            <a:r>
              <a:rPr lang="fr-FR" sz="25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</a:t>
            </a:r>
            <a:r>
              <a:rPr lang="fr-FR" sz="2500" b="1" spc="3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recoupe</a:t>
            </a:r>
            <a:r>
              <a:rPr lang="fr-FR" sz="25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25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dyke</a:t>
            </a:r>
            <a:r>
              <a:rPr lang="fr-FR" sz="25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4</a:t>
            </a:r>
            <a:r>
              <a:rPr lang="fr-FR" sz="2500" b="1" spc="3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25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que</a:t>
            </a:r>
            <a:r>
              <a:rPr lang="fr-FR" sz="2500" b="1" spc="10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2500" b="1" spc="7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dyke</a:t>
            </a:r>
            <a:r>
              <a:rPr lang="fr-FR" sz="2500" b="1" spc="7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6</a:t>
            </a:r>
            <a:r>
              <a:rPr lang="fr-FR" sz="2500" b="1" spc="8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recoupe</a:t>
            </a:r>
            <a:r>
              <a:rPr lang="fr-FR" sz="2500" b="1" spc="7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2500" b="1" spc="7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dyke</a:t>
            </a:r>
            <a:r>
              <a:rPr lang="fr-FR" sz="2500" b="1" spc="7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5,</a:t>
            </a:r>
            <a:r>
              <a:rPr lang="fr-FR" sz="2500" b="1" spc="8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 err="1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L’ordre</a:t>
            </a:r>
            <a:r>
              <a:rPr lang="en-US" sz="25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des</a:t>
            </a:r>
            <a:r>
              <a:rPr lang="en-US" sz="25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intrusions</a:t>
            </a:r>
            <a:r>
              <a:rPr lang="en-US" sz="25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 err="1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est</a:t>
            </a:r>
            <a:r>
              <a:rPr lang="en-US" sz="2500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 err="1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donc</a:t>
            </a:r>
            <a:r>
              <a:rPr lang="en-US" sz="2500" b="1" spc="-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:</a:t>
            </a:r>
            <a:r>
              <a:rPr lang="en-US" sz="2500" b="1" spc="19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4,</a:t>
            </a:r>
            <a:r>
              <a:rPr lang="en-US" sz="2500" b="1" spc="-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</a:t>
            </a:r>
            <a:r>
              <a:rPr lang="en-US" sz="2500" b="1" spc="-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en-US" sz="2500" b="1" spc="-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 err="1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enfin</a:t>
            </a:r>
            <a:r>
              <a:rPr lang="en-US" sz="2500" b="1" spc="-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en-US" sz="25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6.</a:t>
            </a:r>
            <a:endParaRPr lang="fr-FR" sz="2500" b="1" spc="-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fr-FR" sz="25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 </a:t>
            </a:r>
            <a:endParaRPr lang="fr-FR" sz="25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25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fr-FR" sz="25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fr-F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45690" y="824374"/>
            <a:ext cx="16427758" cy="35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1305" tIns="35652" rIns="71305" bIns="35652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2608614"/>
              </p:ext>
            </p:extLst>
          </p:nvPr>
        </p:nvGraphicFramePr>
        <p:xfrm>
          <a:off x="6558257" y="318274"/>
          <a:ext cx="2314693" cy="6221452"/>
        </p:xfrm>
        <a:graphic>
          <a:graphicData uri="http://schemas.openxmlformats.org/presentationml/2006/ole">
            <p:oleObj spid="_x0000_s9218" name="Image bitmap" r:id="rId3" imgW="2914286" imgH="1733333" progId="PBrush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37176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71050" y="318273"/>
            <a:ext cx="4738096" cy="4766911"/>
          </a:xfrm>
          <a:solidFill>
            <a:srgbClr val="FFFF00"/>
          </a:solidFill>
        </p:spPr>
        <p:txBody>
          <a:bodyPr>
            <a:noAutofit/>
          </a:bodyPr>
          <a:lstStyle/>
          <a:p>
            <a:pPr marL="55955" marR="56945" indent="-495" algn="just">
              <a:spcBef>
                <a:spcPts val="66"/>
              </a:spcBef>
            </a:pP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Fig. </a:t>
            </a:r>
            <a:r>
              <a:rPr lang="fr-FR" sz="1600" b="1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6</a:t>
            </a:r>
            <a:r>
              <a:rPr lang="fr-FR" sz="1600" b="1" spc="-4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:</a:t>
            </a:r>
            <a:r>
              <a:rPr lang="fr-FR" sz="1600" b="1" spc="-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structure</a:t>
            </a:r>
            <a:r>
              <a:rPr lang="fr-FR" sz="1600" b="1" spc="-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tabulaire</a:t>
            </a:r>
            <a:r>
              <a:rPr lang="fr-FR" sz="1600" b="1" spc="-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discordante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sur</a:t>
            </a:r>
            <a:r>
              <a:rPr lang="fr-FR" sz="1600" b="1" spc="10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structure</a:t>
            </a:r>
            <a:r>
              <a:rPr lang="fr-FR" sz="1600" b="1" spc="-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basculée</a:t>
            </a:r>
            <a:r>
              <a:rPr lang="fr-FR" sz="1600" b="1" spc="-3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 err="1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intrudée</a:t>
            </a:r>
            <a:r>
              <a:rPr lang="fr-FR" sz="1600" b="1" spc="-2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par</a:t>
            </a:r>
            <a:r>
              <a:rPr lang="fr-FR" sz="1600" b="1" spc="-2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un</a:t>
            </a:r>
            <a:r>
              <a:rPr lang="fr-FR" sz="1600" b="1" spc="-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granite.</a:t>
            </a:r>
          </a:p>
          <a:p>
            <a:pPr marL="55955" marR="56945" indent="-495" algn="just">
              <a:spcBef>
                <a:spcPts val="66"/>
              </a:spcBef>
            </a:pPr>
            <a:endParaRPr lang="fr-FR" sz="1600" b="1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412479" marR="54469" indent="-356525" algn="just">
              <a:spcBef>
                <a:spcPts val="8"/>
              </a:spcBef>
              <a:buAutoNum type="arabicParenR"/>
            </a:pP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Dépôt</a:t>
            </a:r>
            <a:r>
              <a:rPr lang="fr-FR" sz="1600" b="1" spc="3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600" b="1" spc="3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série</a:t>
            </a:r>
            <a:r>
              <a:rPr lang="fr-FR" sz="1600" b="1" spc="4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sédimentaire</a:t>
            </a:r>
            <a:r>
              <a:rPr lang="fr-FR" sz="1600" b="1" spc="9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transgressive</a:t>
            </a:r>
            <a:r>
              <a:rPr lang="fr-FR" sz="1600" b="1" spc="14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</a:t>
            </a:r>
            <a:r>
              <a:rPr lang="fr-FR" sz="1600" b="1" spc="13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à</a:t>
            </a:r>
            <a:r>
              <a:rPr lang="fr-FR" sz="1600" b="1" spc="12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J,</a:t>
            </a:r>
            <a:r>
              <a:rPr lang="fr-FR" sz="1600" b="1" spc="14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955" marR="54469" algn="just">
              <a:spcBef>
                <a:spcPts val="8"/>
              </a:spcBef>
            </a:pPr>
            <a:r>
              <a:rPr lang="fr-FR" sz="1600" b="1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2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)</a:t>
            </a:r>
            <a:r>
              <a:rPr lang="fr-FR" sz="1600" b="1" spc="7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basculement</a:t>
            </a:r>
            <a:r>
              <a:rPr lang="fr-FR" sz="1600" b="1" spc="7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23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cette</a:t>
            </a:r>
            <a:r>
              <a:rPr lang="fr-FR" sz="16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série.</a:t>
            </a:r>
            <a:r>
              <a:rPr lang="fr-FR" sz="1600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955" marR="54469" algn="just">
              <a:spcBef>
                <a:spcPts val="8"/>
              </a:spcBef>
            </a:pPr>
            <a:r>
              <a:rPr lang="fr-FR" sz="1600" b="1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3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)</a:t>
            </a:r>
            <a:r>
              <a:rPr lang="fr-FR" sz="16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Intrusion</a:t>
            </a:r>
            <a:r>
              <a:rPr lang="fr-FR" sz="1600" b="1" spc="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du</a:t>
            </a:r>
            <a:r>
              <a:rPr lang="fr-FR" sz="16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granite</a:t>
            </a:r>
            <a:r>
              <a:rPr lang="fr-FR" sz="16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suivi</a:t>
            </a:r>
            <a:r>
              <a:rPr lang="fr-FR" sz="1600" b="1" spc="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son</a:t>
            </a:r>
            <a:r>
              <a:rPr lang="fr-FR" sz="1600" b="1" spc="12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auréole</a:t>
            </a:r>
            <a:r>
              <a:rPr lang="fr-FR" sz="1600" b="1" spc="22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23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métamorphisme</a:t>
            </a:r>
            <a:r>
              <a:rPr lang="fr-FR" sz="1600" b="1" spc="22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22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contact.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 </a:t>
            </a:r>
          </a:p>
          <a:p>
            <a:pPr marL="55955" marR="54469" algn="just">
              <a:spcBef>
                <a:spcPts val="8"/>
              </a:spcBef>
            </a:pPr>
            <a:r>
              <a:rPr lang="fr-FR" sz="1600" b="1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4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)</a:t>
            </a:r>
            <a:r>
              <a:rPr lang="fr-FR" sz="1600" b="1" spc="16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Soulèvement</a:t>
            </a:r>
            <a:r>
              <a:rPr lang="fr-FR" sz="1600" b="1" spc="16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tectonique,</a:t>
            </a:r>
            <a:r>
              <a:rPr lang="fr-FR" sz="1600" b="1" spc="16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régression</a:t>
            </a:r>
            <a:r>
              <a:rPr lang="fr-FR" sz="1600" b="1" spc="15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marine</a:t>
            </a:r>
            <a:r>
              <a:rPr lang="fr-FR" sz="1600" b="1" spc="16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955" marR="54469" algn="just">
              <a:spcBef>
                <a:spcPts val="8"/>
              </a:spcBef>
            </a:pPr>
            <a:r>
              <a:rPr lang="fr-FR" sz="1600" spc="62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</a:t>
            </a:r>
            <a:r>
              <a:rPr lang="fr-FR" sz="1600" spc="6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)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érosion</a:t>
            </a:r>
            <a:r>
              <a:rPr lang="fr-FR" sz="1600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partielle</a:t>
            </a:r>
            <a:r>
              <a:rPr lang="fr-FR" sz="16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6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série</a:t>
            </a:r>
            <a:r>
              <a:rPr lang="fr-FR" sz="1600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</a:t>
            </a:r>
            <a:r>
              <a:rPr lang="fr-FR" sz="1600" b="1" spc="1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à</a:t>
            </a:r>
            <a:r>
              <a:rPr lang="fr-FR" sz="1600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J</a:t>
            </a:r>
            <a:r>
              <a:rPr lang="fr-FR" sz="1600" b="1" spc="2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6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du</a:t>
            </a:r>
            <a:r>
              <a:rPr lang="fr-FR" sz="1600" b="1" spc="2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granite</a:t>
            </a:r>
            <a:r>
              <a:rPr lang="fr-FR" sz="1600" b="1" spc="10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bien</a:t>
            </a:r>
            <a:r>
              <a:rPr lang="fr-FR" sz="1600" b="1" spc="20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nette</a:t>
            </a:r>
            <a:r>
              <a:rPr lang="fr-FR" sz="1600" b="1" spc="20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par</a:t>
            </a:r>
            <a:r>
              <a:rPr lang="fr-FR" sz="1600" b="1" spc="21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600" b="1" spc="20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présence</a:t>
            </a:r>
            <a:r>
              <a:rPr lang="fr-FR" sz="1600" b="1" spc="20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21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fragments</a:t>
            </a:r>
            <a:r>
              <a:rPr lang="fr-FR" sz="1600" b="1" spc="9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granitiques</a:t>
            </a:r>
            <a:r>
              <a:rPr lang="fr-FR" sz="1600" b="1" spc="15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qui</a:t>
            </a:r>
            <a:r>
              <a:rPr lang="fr-FR" sz="1600" b="1" spc="15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constituent</a:t>
            </a:r>
            <a:r>
              <a:rPr lang="fr-FR" sz="1600" b="1" spc="16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1600" b="1" spc="16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conglomérat</a:t>
            </a:r>
            <a:r>
              <a:rPr lang="fr-FR" sz="1600" b="1" spc="14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21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base</a:t>
            </a:r>
            <a:r>
              <a:rPr lang="fr-FR" sz="1600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23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 future</a:t>
            </a:r>
            <a:r>
              <a:rPr lang="fr-FR" sz="1600" b="1" spc="23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série</a:t>
            </a:r>
            <a:r>
              <a:rPr lang="fr-FR" sz="1600" b="1" spc="22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sédimentaire.</a:t>
            </a:r>
            <a:r>
              <a:rPr lang="fr-FR" sz="16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955" marR="54469" algn="just">
              <a:spcBef>
                <a:spcPts val="8"/>
              </a:spcBef>
            </a:pPr>
            <a:r>
              <a:rPr lang="fr-FR" sz="1600" b="1" dirty="0" smtClean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6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)</a:t>
            </a:r>
            <a:r>
              <a:rPr lang="fr-FR" sz="1600" b="1" spc="14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Transgression</a:t>
            </a:r>
            <a:r>
              <a:rPr lang="fr-FR" sz="1600" b="1" spc="11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marine</a:t>
            </a:r>
            <a:r>
              <a:rPr lang="fr-FR" sz="1600" b="1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600" b="1" spc="125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dépôt</a:t>
            </a:r>
            <a:r>
              <a:rPr lang="fr-FR" sz="1600" b="1" spc="11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sz="1600" b="1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sz="1600" b="1" spc="11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séquence</a:t>
            </a:r>
            <a:r>
              <a:rPr lang="fr-FR" sz="1600" b="1" spc="14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sédimentaire</a:t>
            </a:r>
            <a:r>
              <a:rPr lang="fr-FR" sz="1600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continue</a:t>
            </a:r>
            <a:r>
              <a:rPr lang="fr-FR" sz="1600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</a:t>
            </a:r>
            <a:r>
              <a:rPr lang="fr-FR" sz="1600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à</a:t>
            </a:r>
            <a:r>
              <a:rPr lang="fr-FR" sz="1600" b="1" spc="2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X</a:t>
            </a:r>
            <a:r>
              <a:rPr lang="fr-FR" sz="1600" b="1" spc="1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55955" marR="54469" algn="just">
              <a:spcBef>
                <a:spcPts val="8"/>
              </a:spcBef>
            </a:pP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</a:t>
            </a:r>
            <a:r>
              <a:rPr lang="fr-FR" sz="1600" b="1" spc="-1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contact</a:t>
            </a:r>
            <a:r>
              <a:rPr lang="fr-FR" sz="1600" b="1" spc="-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entre</a:t>
            </a:r>
            <a:r>
              <a:rPr lang="fr-FR" sz="1600" b="1" spc="-1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les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2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séries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(basculée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tabulaire)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est </a:t>
            </a:r>
            <a:r>
              <a:rPr lang="fr-FR" sz="1600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une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discordance</a:t>
            </a:r>
            <a:r>
              <a:rPr lang="fr-FR" sz="1600" b="1" spc="-9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angulaire.</a:t>
            </a:r>
          </a:p>
          <a:p>
            <a:endParaRPr lang="fr-F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9145" y="442722"/>
            <a:ext cx="3698563" cy="6097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81848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71050" y="318273"/>
            <a:ext cx="5642066" cy="6221454"/>
          </a:xfrm>
          <a:solidFill>
            <a:srgbClr val="FFFF00"/>
          </a:solidFill>
        </p:spPr>
        <p:txBody>
          <a:bodyPr>
            <a:normAutofit fontScale="92500" lnSpcReduction="10000"/>
          </a:bodyPr>
          <a:lstStyle/>
          <a:p>
            <a:pPr marL="55459" algn="just">
              <a:lnSpc>
                <a:spcPts val="1088"/>
              </a:lnSpc>
            </a:pPr>
            <a:r>
              <a:rPr lang="en-US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</a:t>
            </a:r>
            <a:r>
              <a:rPr lang="en-US" b="1" spc="-3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endParaRPr lang="en-US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5459" algn="just">
              <a:lnSpc>
                <a:spcPts val="1088"/>
              </a:lnSpc>
            </a:pPr>
            <a:endParaRPr lang="fr-FR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r>
              <a:rPr lang="fr-FR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Dépôt</a:t>
            </a:r>
            <a:r>
              <a:rPr lang="fr-FR" b="1" u="sng" spc="22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d’une</a:t>
            </a:r>
            <a:r>
              <a:rPr lang="fr-FR" b="1" u="sng" spc="23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séquence</a:t>
            </a:r>
            <a:r>
              <a:rPr lang="fr-FR" b="1" u="sng" spc="22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sédimentaire</a:t>
            </a:r>
            <a:r>
              <a:rPr lang="fr-FR" b="1" u="sng" spc="11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713049" lvl="1" indent="-356525" algn="just">
              <a:buSzPts val="1000"/>
              <a:buAutoNum type="arabicParenR"/>
              <a:tabLst>
                <a:tab pos="550632" algn="l"/>
              </a:tabLst>
            </a:pPr>
            <a:endParaRPr lang="fr-FR" b="1" u="sng" spc="117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transgressive continue</a:t>
            </a:r>
            <a:r>
              <a:rPr lang="fr-FR" b="1" spc="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b="1" spc="8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G</a:t>
            </a:r>
            <a:r>
              <a:rPr lang="fr-FR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à F</a:t>
            </a:r>
            <a:r>
              <a:rPr lang="fr-FR" b="1" spc="1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(G</a:t>
            </a:r>
            <a:r>
              <a:rPr lang="fr-FR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étant la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couche la</a:t>
            </a:r>
            <a:r>
              <a:rPr lang="fr-FR" b="1" spc="15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ancienne</a:t>
            </a:r>
            <a:r>
              <a:rPr lang="fr-FR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et</a:t>
            </a:r>
            <a:r>
              <a:rPr lang="fr-FR" b="1" spc="1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</a:t>
            </a:r>
            <a:r>
              <a:rPr lang="fr-FR" b="1" spc="23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b="1" spc="19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couche</a:t>
            </a:r>
            <a:r>
              <a:rPr lang="fr-FR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</a:t>
            </a:r>
            <a:r>
              <a:rPr lang="fr-FR" b="1" spc="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plus</a:t>
            </a:r>
            <a:r>
              <a:rPr lang="fr-FR" b="1" spc="27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jeune</a:t>
            </a:r>
            <a:r>
              <a:rPr lang="fr-FR" b="1" spc="-16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:</a:t>
            </a:r>
            <a:r>
              <a:rPr lang="fr-FR" b="1" spc="121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principe</a:t>
            </a:r>
            <a:r>
              <a:rPr lang="fr-FR" b="1" spc="152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de</a:t>
            </a:r>
            <a:r>
              <a:rPr lang="fr-FR" b="1" spc="160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superposition).</a:t>
            </a:r>
            <a:r>
              <a:rPr lang="fr-FR" b="1" spc="16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endParaRPr lang="fr-FR" b="1" spc="16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r>
              <a:rPr lang="fr-FR" b="1" spc="16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2) </a:t>
            </a:r>
            <a:r>
              <a:rPr lang="fr-FR" b="1" u="sng" spc="16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 </a:t>
            </a:r>
            <a:r>
              <a:rPr lang="fr-FR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faille B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(principe de recoupement). </a:t>
            </a: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endParaRPr lang="fr-FR" b="1" spc="-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3) </a:t>
            </a:r>
            <a:r>
              <a:rPr lang="fr-FR" b="1" u="sng" spc="-4" dirty="0" err="1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Regressiom</a:t>
            </a:r>
            <a:r>
              <a:rPr lang="fr-FR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suivie de l’érosion partielle des couches A et F. </a:t>
            </a: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endParaRPr lang="fr-FR" b="1" spc="-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4)</a:t>
            </a:r>
            <a:r>
              <a:rPr lang="fr-FR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Transgression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 et dépôt de la série H à I </a:t>
            </a: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Le contact entre H et la série en-dessous est une discordance simple. </a:t>
            </a: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endParaRPr lang="fr-FR" b="1" spc="-4" dirty="0">
              <a:latin typeface="Times New Roman" panose="02020603050405020304" pitchFamily="18" charset="0"/>
              <a:ea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356525" lvl="1" indent="0" algn="just">
              <a:buSzPts val="1000"/>
              <a:buNone/>
              <a:tabLst>
                <a:tab pos="550632" algn="l"/>
              </a:tabLst>
            </a:pP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5</a:t>
            </a:r>
            <a:r>
              <a:rPr lang="fr-FR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) </a:t>
            </a:r>
            <a:r>
              <a:rPr lang="fr-FR" b="1" u="sng" spc="16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La </a:t>
            </a:r>
            <a:r>
              <a:rPr lang="fr-FR" b="1" u="sng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faille E </a:t>
            </a:r>
            <a:r>
              <a:rPr lang="fr-FR" b="1" spc="-4" dirty="0">
                <a:latin typeface="Times New Roman" panose="02020603050405020304" pitchFamily="18" charset="0"/>
                <a:ea typeface="Comic Sans MS" panose="030F0702030302020204" pitchFamily="66" charset="0"/>
                <a:cs typeface="Times New Roman" panose="02020603050405020304" pitchFamily="18" charset="0"/>
              </a:rPr>
              <a:t>(principe de recoupement).</a:t>
            </a:r>
          </a:p>
          <a:p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13116" y="318273"/>
            <a:ext cx="2959835" cy="6221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86423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0" y="0"/>
            <a:ext cx="4932040" cy="6858000"/>
          </a:xfrm>
          <a:solidFill>
            <a:srgbClr val="FFFF00"/>
          </a:solidFill>
        </p:spPr>
        <p:txBody>
          <a:bodyPr>
            <a:noAutofit/>
          </a:bodyPr>
          <a:lstStyle/>
          <a:p>
            <a:pPr marL="55459" algn="just">
              <a:lnSpc>
                <a:spcPts val="1088"/>
              </a:lnSpc>
            </a:pP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Fig.</a:t>
            </a:r>
            <a:r>
              <a:rPr lang="fr-FR" sz="1800" b="1" spc="-3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endParaRPr lang="fr-FR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fr-FR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Dépôt</a:t>
            </a:r>
            <a:r>
              <a:rPr lang="fr-FR" sz="1800" b="1" spc="222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d’une</a:t>
            </a:r>
            <a:r>
              <a:rPr lang="fr-FR" sz="1800" b="1" spc="23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séquence</a:t>
            </a:r>
            <a:r>
              <a:rPr lang="fr-FR" sz="1800" b="1" spc="226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sédimentaire</a:t>
            </a:r>
            <a:r>
              <a:rPr lang="fr-FR" sz="1800" b="1" spc="117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transgressive continue</a:t>
            </a:r>
            <a:r>
              <a:rPr lang="fr-FR" sz="1800" b="1" spc="8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fr-FR" sz="1800" b="1" spc="8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fr-FR" sz="1800" b="1" u="sng" spc="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à</a:t>
            </a:r>
            <a:r>
              <a:rPr lang="fr-FR" sz="1800" b="1" u="sng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endParaRPr lang="fr-FR" sz="1800" b="1" u="sng" spc="164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fr-FR" sz="1800" b="1" spc="16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 La </a:t>
            </a: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faille B (principe de recoupement). </a:t>
            </a:r>
          </a:p>
          <a:p>
            <a:pPr algn="just"/>
            <a:endParaRPr lang="fr-FR" sz="1800" b="1" spc="-4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</a:t>
            </a:r>
            <a:r>
              <a:rPr lang="fr-FR" sz="1800" b="1" u="sng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Basculement </a:t>
            </a: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série suivi de la</a:t>
            </a:r>
            <a:r>
              <a:rPr lang="fr-FR" sz="1800" b="1" u="sng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régression </a:t>
            </a: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marine, de </a:t>
            </a:r>
            <a:r>
              <a:rPr lang="fr-FR" sz="1800" b="1" u="sng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l’érosion partielle de la série </a:t>
            </a:r>
          </a:p>
          <a:p>
            <a:pPr algn="just"/>
            <a:endParaRPr lang="fr-FR" sz="1800" b="1" spc="-4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4) </a:t>
            </a:r>
            <a:r>
              <a:rPr lang="fr-FR" sz="1800" b="1" spc="-4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transgression</a:t>
            </a: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marine et du</a:t>
            </a:r>
            <a:r>
              <a:rPr lang="fr-FR" sz="1800" b="1" u="sng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dépôt </a:t>
            </a: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série ECD et peut-être K et I en discordance angulaire sur la série 1. </a:t>
            </a:r>
          </a:p>
          <a:p>
            <a:pPr algn="just"/>
            <a:endParaRPr lang="fr-FR" sz="1800" b="1" spc="-4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4) Intrusion magmatique A  et métamorphisme de contact</a:t>
            </a:r>
          </a:p>
          <a:p>
            <a:pPr algn="just"/>
            <a:endParaRPr lang="fr-FR" sz="1800" b="1" spc="-4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5) basculement suivi de la régression marine et de l’érosion partielle de la 2</a:t>
            </a:r>
            <a:r>
              <a:rPr lang="fr-FR" sz="1800" b="1" spc="-4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ème</a:t>
            </a:r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série. </a:t>
            </a:r>
          </a:p>
          <a:p>
            <a:pPr algn="just"/>
            <a:endParaRPr lang="fr-FR" sz="1800" b="1" spc="-4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fr-FR" sz="1800" b="1" spc="-4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6) Transgression marine et sédimentation de la couche F qui est en discordance angulaire avec la série 2.</a:t>
            </a:r>
            <a:endParaRPr lang="fr-F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400463" y="1898019"/>
            <a:ext cx="144067" cy="348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1305" tIns="35652" rIns="71305" bIns="35652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98707317"/>
              </p:ext>
            </p:extLst>
          </p:nvPr>
        </p:nvGraphicFramePr>
        <p:xfrm>
          <a:off x="4998568" y="1"/>
          <a:ext cx="4145431" cy="6858000"/>
        </p:xfrm>
        <a:graphic>
          <a:graphicData uri="http://schemas.openxmlformats.org/presentationml/2006/ole">
            <p:oleObj spid="_x0000_s13314" name="Image bitmap" r:id="rId3" imgW="3924848" imgH="2095793" progId="PBrush">
              <p:embed/>
            </p:oleObj>
          </a:graphicData>
        </a:graphic>
      </p:graphicFrame>
      <p:cxnSp>
        <p:nvCxnSpPr>
          <p:cNvPr id="4" name="Connecteur droit 3"/>
          <p:cNvCxnSpPr/>
          <p:nvPr/>
        </p:nvCxnSpPr>
        <p:spPr>
          <a:xfrm flipV="1">
            <a:off x="7452320" y="3429000"/>
            <a:ext cx="211688" cy="233304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 flipV="1">
            <a:off x="7236296" y="3429000"/>
            <a:ext cx="241928" cy="239785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rme libre 10"/>
          <p:cNvSpPr/>
          <p:nvPr/>
        </p:nvSpPr>
        <p:spPr>
          <a:xfrm>
            <a:off x="7418021" y="3441963"/>
            <a:ext cx="1381008" cy="1114677"/>
          </a:xfrm>
          <a:custGeom>
            <a:avLst/>
            <a:gdLst>
              <a:gd name="connsiteX0" fmla="*/ 0 w 1957387"/>
              <a:gd name="connsiteY0" fmla="*/ 28575 h 1228725"/>
              <a:gd name="connsiteX1" fmla="*/ 71437 w 1957387"/>
              <a:gd name="connsiteY1" fmla="*/ 14287 h 1228725"/>
              <a:gd name="connsiteX2" fmla="*/ 114300 w 1957387"/>
              <a:gd name="connsiteY2" fmla="*/ 0 h 1228725"/>
              <a:gd name="connsiteX3" fmla="*/ 171450 w 1957387"/>
              <a:gd name="connsiteY3" fmla="*/ 14287 h 1228725"/>
              <a:gd name="connsiteX4" fmla="*/ 285750 w 1957387"/>
              <a:gd name="connsiteY4" fmla="*/ 85725 h 1228725"/>
              <a:gd name="connsiteX5" fmla="*/ 328612 w 1957387"/>
              <a:gd name="connsiteY5" fmla="*/ 100012 h 1228725"/>
              <a:gd name="connsiteX6" fmla="*/ 414337 w 1957387"/>
              <a:gd name="connsiteY6" fmla="*/ 200025 h 1228725"/>
              <a:gd name="connsiteX7" fmla="*/ 471487 w 1957387"/>
              <a:gd name="connsiteY7" fmla="*/ 228600 h 1228725"/>
              <a:gd name="connsiteX8" fmla="*/ 614362 w 1957387"/>
              <a:gd name="connsiteY8" fmla="*/ 300037 h 1228725"/>
              <a:gd name="connsiteX9" fmla="*/ 742950 w 1957387"/>
              <a:gd name="connsiteY9" fmla="*/ 400050 h 1228725"/>
              <a:gd name="connsiteX10" fmla="*/ 842962 w 1957387"/>
              <a:gd name="connsiteY10" fmla="*/ 457200 h 1228725"/>
              <a:gd name="connsiteX11" fmla="*/ 885825 w 1957387"/>
              <a:gd name="connsiteY11" fmla="*/ 471487 h 1228725"/>
              <a:gd name="connsiteX12" fmla="*/ 971550 w 1957387"/>
              <a:gd name="connsiteY12" fmla="*/ 542925 h 1228725"/>
              <a:gd name="connsiteX13" fmla="*/ 1014412 w 1957387"/>
              <a:gd name="connsiteY13" fmla="*/ 571500 h 1228725"/>
              <a:gd name="connsiteX14" fmla="*/ 1128712 w 1957387"/>
              <a:gd name="connsiteY14" fmla="*/ 671512 h 1228725"/>
              <a:gd name="connsiteX15" fmla="*/ 1171575 w 1957387"/>
              <a:gd name="connsiteY15" fmla="*/ 700087 h 1228725"/>
              <a:gd name="connsiteX16" fmla="*/ 1214437 w 1957387"/>
              <a:gd name="connsiteY16" fmla="*/ 728662 h 1228725"/>
              <a:gd name="connsiteX17" fmla="*/ 1343025 w 1957387"/>
              <a:gd name="connsiteY17" fmla="*/ 771525 h 1228725"/>
              <a:gd name="connsiteX18" fmla="*/ 1385887 w 1957387"/>
              <a:gd name="connsiteY18" fmla="*/ 785812 h 1228725"/>
              <a:gd name="connsiteX19" fmla="*/ 1428750 w 1957387"/>
              <a:gd name="connsiteY19" fmla="*/ 800100 h 1228725"/>
              <a:gd name="connsiteX20" fmla="*/ 1528762 w 1957387"/>
              <a:gd name="connsiteY20" fmla="*/ 828675 h 1228725"/>
              <a:gd name="connsiteX21" fmla="*/ 1585912 w 1957387"/>
              <a:gd name="connsiteY21" fmla="*/ 885825 h 1228725"/>
              <a:gd name="connsiteX22" fmla="*/ 1614487 w 1957387"/>
              <a:gd name="connsiteY22" fmla="*/ 928687 h 1228725"/>
              <a:gd name="connsiteX23" fmla="*/ 1657350 w 1957387"/>
              <a:gd name="connsiteY23" fmla="*/ 957262 h 1228725"/>
              <a:gd name="connsiteX24" fmla="*/ 1700212 w 1957387"/>
              <a:gd name="connsiteY24" fmla="*/ 1000125 h 1228725"/>
              <a:gd name="connsiteX25" fmla="*/ 1814512 w 1957387"/>
              <a:gd name="connsiteY25" fmla="*/ 1042987 h 1228725"/>
              <a:gd name="connsiteX26" fmla="*/ 1871662 w 1957387"/>
              <a:gd name="connsiteY26" fmla="*/ 1128712 h 1228725"/>
              <a:gd name="connsiteX27" fmla="*/ 1900237 w 1957387"/>
              <a:gd name="connsiteY27" fmla="*/ 1171575 h 1228725"/>
              <a:gd name="connsiteX28" fmla="*/ 1957387 w 1957387"/>
              <a:gd name="connsiteY28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957387" h="1228725">
                <a:moveTo>
                  <a:pt x="0" y="28575"/>
                </a:moveTo>
                <a:cubicBezTo>
                  <a:pt x="23812" y="23812"/>
                  <a:pt x="47878" y="20177"/>
                  <a:pt x="71437" y="14287"/>
                </a:cubicBezTo>
                <a:cubicBezTo>
                  <a:pt x="86048" y="10634"/>
                  <a:pt x="99240" y="0"/>
                  <a:pt x="114300" y="0"/>
                </a:cubicBezTo>
                <a:cubicBezTo>
                  <a:pt x="133936" y="0"/>
                  <a:pt x="152400" y="9525"/>
                  <a:pt x="171450" y="14287"/>
                </a:cubicBezTo>
                <a:cubicBezTo>
                  <a:pt x="216733" y="82212"/>
                  <a:pt x="183735" y="51720"/>
                  <a:pt x="285750" y="85725"/>
                </a:cubicBezTo>
                <a:lnTo>
                  <a:pt x="328612" y="100012"/>
                </a:lnTo>
                <a:cubicBezTo>
                  <a:pt x="357409" y="143209"/>
                  <a:pt x="368142" y="165379"/>
                  <a:pt x="414337" y="200025"/>
                </a:cubicBezTo>
                <a:cubicBezTo>
                  <a:pt x="431376" y="212804"/>
                  <a:pt x="453224" y="217642"/>
                  <a:pt x="471487" y="228600"/>
                </a:cubicBezTo>
                <a:cubicBezTo>
                  <a:pt x="592990" y="301502"/>
                  <a:pt x="512779" y="274642"/>
                  <a:pt x="614362" y="300037"/>
                </a:cubicBezTo>
                <a:cubicBezTo>
                  <a:pt x="681510" y="367185"/>
                  <a:pt x="640412" y="331691"/>
                  <a:pt x="742950" y="400050"/>
                </a:cubicBezTo>
                <a:cubicBezTo>
                  <a:pt x="785996" y="428748"/>
                  <a:pt x="792206" y="435448"/>
                  <a:pt x="842962" y="457200"/>
                </a:cubicBezTo>
                <a:cubicBezTo>
                  <a:pt x="856805" y="463133"/>
                  <a:pt x="871537" y="466725"/>
                  <a:pt x="885825" y="471487"/>
                </a:cubicBezTo>
                <a:cubicBezTo>
                  <a:pt x="992242" y="542433"/>
                  <a:pt x="861541" y="451251"/>
                  <a:pt x="971550" y="542925"/>
                </a:cubicBezTo>
                <a:cubicBezTo>
                  <a:pt x="984741" y="553918"/>
                  <a:pt x="1000125" y="561975"/>
                  <a:pt x="1014412" y="571500"/>
                </a:cubicBezTo>
                <a:cubicBezTo>
                  <a:pt x="1062037" y="642937"/>
                  <a:pt x="1028700" y="604838"/>
                  <a:pt x="1128712" y="671512"/>
                </a:cubicBezTo>
                <a:lnTo>
                  <a:pt x="1171575" y="700087"/>
                </a:lnTo>
                <a:cubicBezTo>
                  <a:pt x="1185862" y="709612"/>
                  <a:pt x="1198147" y="723232"/>
                  <a:pt x="1214437" y="728662"/>
                </a:cubicBezTo>
                <a:lnTo>
                  <a:pt x="1343025" y="771525"/>
                </a:lnTo>
                <a:lnTo>
                  <a:pt x="1385887" y="785812"/>
                </a:lnTo>
                <a:cubicBezTo>
                  <a:pt x="1400175" y="790575"/>
                  <a:pt x="1414139" y="796447"/>
                  <a:pt x="1428750" y="800100"/>
                </a:cubicBezTo>
                <a:cubicBezTo>
                  <a:pt x="1500511" y="818040"/>
                  <a:pt x="1467272" y="808177"/>
                  <a:pt x="1528762" y="828675"/>
                </a:cubicBezTo>
                <a:cubicBezTo>
                  <a:pt x="1559936" y="922192"/>
                  <a:pt x="1516640" y="830407"/>
                  <a:pt x="1585912" y="885825"/>
                </a:cubicBezTo>
                <a:cubicBezTo>
                  <a:pt x="1599320" y="896552"/>
                  <a:pt x="1602345" y="916545"/>
                  <a:pt x="1614487" y="928687"/>
                </a:cubicBezTo>
                <a:cubicBezTo>
                  <a:pt x="1626629" y="940829"/>
                  <a:pt x="1644158" y="946269"/>
                  <a:pt x="1657350" y="957262"/>
                </a:cubicBezTo>
                <a:cubicBezTo>
                  <a:pt x="1672872" y="970197"/>
                  <a:pt x="1683770" y="988381"/>
                  <a:pt x="1700212" y="1000125"/>
                </a:cubicBezTo>
                <a:cubicBezTo>
                  <a:pt x="1740442" y="1028861"/>
                  <a:pt x="1768491" y="1031482"/>
                  <a:pt x="1814512" y="1042987"/>
                </a:cubicBezTo>
                <a:lnTo>
                  <a:pt x="1871662" y="1128712"/>
                </a:lnTo>
                <a:cubicBezTo>
                  <a:pt x="1881187" y="1143000"/>
                  <a:pt x="1888095" y="1159433"/>
                  <a:pt x="1900237" y="1171575"/>
                </a:cubicBezTo>
                <a:lnTo>
                  <a:pt x="1957387" y="1228725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305" tIns="35652" rIns="71305" bIns="35652" rtlCol="0" anchor="ctr"/>
          <a:lstStyle/>
          <a:p>
            <a:pPr algn="ctr"/>
            <a:endParaRPr lang="fr-FR"/>
          </a:p>
        </p:txBody>
      </p:sp>
      <p:sp>
        <p:nvSpPr>
          <p:cNvPr id="15" name="Forme libre 14"/>
          <p:cNvSpPr/>
          <p:nvPr/>
        </p:nvSpPr>
        <p:spPr>
          <a:xfrm>
            <a:off x="6156176" y="1772816"/>
            <a:ext cx="1270124" cy="1568324"/>
          </a:xfrm>
          <a:custGeom>
            <a:avLst/>
            <a:gdLst>
              <a:gd name="connsiteX0" fmla="*/ 0 w 1800225"/>
              <a:gd name="connsiteY0" fmla="*/ 0 h 1728787"/>
              <a:gd name="connsiteX1" fmla="*/ 57150 w 1800225"/>
              <a:gd name="connsiteY1" fmla="*/ 128587 h 1728787"/>
              <a:gd name="connsiteX2" fmla="*/ 100013 w 1800225"/>
              <a:gd name="connsiteY2" fmla="*/ 142875 h 1728787"/>
              <a:gd name="connsiteX3" fmla="*/ 128588 w 1800225"/>
              <a:gd name="connsiteY3" fmla="*/ 185737 h 1728787"/>
              <a:gd name="connsiteX4" fmla="*/ 157163 w 1800225"/>
              <a:gd name="connsiteY4" fmla="*/ 300037 h 1728787"/>
              <a:gd name="connsiteX5" fmla="*/ 171450 w 1800225"/>
              <a:gd name="connsiteY5" fmla="*/ 342900 h 1728787"/>
              <a:gd name="connsiteX6" fmla="*/ 228600 w 1800225"/>
              <a:gd name="connsiteY6" fmla="*/ 428625 h 1728787"/>
              <a:gd name="connsiteX7" fmla="*/ 314325 w 1800225"/>
              <a:gd name="connsiteY7" fmla="*/ 500062 h 1728787"/>
              <a:gd name="connsiteX8" fmla="*/ 385763 w 1800225"/>
              <a:gd name="connsiteY8" fmla="*/ 585787 h 1728787"/>
              <a:gd name="connsiteX9" fmla="*/ 400050 w 1800225"/>
              <a:gd name="connsiteY9" fmla="*/ 628650 h 1728787"/>
              <a:gd name="connsiteX10" fmla="*/ 485775 w 1800225"/>
              <a:gd name="connsiteY10" fmla="*/ 671512 h 1728787"/>
              <a:gd name="connsiteX11" fmla="*/ 528638 w 1800225"/>
              <a:gd name="connsiteY11" fmla="*/ 700087 h 1728787"/>
              <a:gd name="connsiteX12" fmla="*/ 614363 w 1800225"/>
              <a:gd name="connsiteY12" fmla="*/ 828675 h 1728787"/>
              <a:gd name="connsiteX13" fmla="*/ 685800 w 1800225"/>
              <a:gd name="connsiteY13" fmla="*/ 900112 h 1728787"/>
              <a:gd name="connsiteX14" fmla="*/ 785813 w 1800225"/>
              <a:gd name="connsiteY14" fmla="*/ 914400 h 1728787"/>
              <a:gd name="connsiteX15" fmla="*/ 828675 w 1800225"/>
              <a:gd name="connsiteY15" fmla="*/ 971550 h 1728787"/>
              <a:gd name="connsiteX16" fmla="*/ 857250 w 1800225"/>
              <a:gd name="connsiteY16" fmla="*/ 1014412 h 1728787"/>
              <a:gd name="connsiteX17" fmla="*/ 900113 w 1800225"/>
              <a:gd name="connsiteY17" fmla="*/ 1042987 h 1728787"/>
              <a:gd name="connsiteX18" fmla="*/ 985838 w 1800225"/>
              <a:gd name="connsiteY18" fmla="*/ 1128712 h 1728787"/>
              <a:gd name="connsiteX19" fmla="*/ 1071563 w 1800225"/>
              <a:gd name="connsiteY19" fmla="*/ 1157287 h 1728787"/>
              <a:gd name="connsiteX20" fmla="*/ 1200150 w 1800225"/>
              <a:gd name="connsiteY20" fmla="*/ 1243012 h 1728787"/>
              <a:gd name="connsiteX21" fmla="*/ 1243013 w 1800225"/>
              <a:gd name="connsiteY21" fmla="*/ 1271587 h 1728787"/>
              <a:gd name="connsiteX22" fmla="*/ 1328738 w 1800225"/>
              <a:gd name="connsiteY22" fmla="*/ 1328737 h 1728787"/>
              <a:gd name="connsiteX23" fmla="*/ 1428750 w 1800225"/>
              <a:gd name="connsiteY23" fmla="*/ 1428750 h 1728787"/>
              <a:gd name="connsiteX24" fmla="*/ 1514475 w 1800225"/>
              <a:gd name="connsiteY24" fmla="*/ 1500187 h 1728787"/>
              <a:gd name="connsiteX25" fmla="*/ 1571625 w 1800225"/>
              <a:gd name="connsiteY25" fmla="*/ 1514475 h 1728787"/>
              <a:gd name="connsiteX26" fmla="*/ 1614488 w 1800225"/>
              <a:gd name="connsiteY26" fmla="*/ 1543050 h 1728787"/>
              <a:gd name="connsiteX27" fmla="*/ 1743075 w 1800225"/>
              <a:gd name="connsiteY27" fmla="*/ 1657350 h 1728787"/>
              <a:gd name="connsiteX28" fmla="*/ 1757363 w 1800225"/>
              <a:gd name="connsiteY28" fmla="*/ 1700212 h 1728787"/>
              <a:gd name="connsiteX29" fmla="*/ 1800225 w 1800225"/>
              <a:gd name="connsiteY29" fmla="*/ 1728787 h 1728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800225" h="1728787">
                <a:moveTo>
                  <a:pt x="0" y="0"/>
                </a:moveTo>
                <a:cubicBezTo>
                  <a:pt x="4338" y="10846"/>
                  <a:pt x="43802" y="115239"/>
                  <a:pt x="57150" y="128587"/>
                </a:cubicBezTo>
                <a:cubicBezTo>
                  <a:pt x="67799" y="139236"/>
                  <a:pt x="85725" y="138112"/>
                  <a:pt x="100013" y="142875"/>
                </a:cubicBezTo>
                <a:cubicBezTo>
                  <a:pt x="109538" y="157162"/>
                  <a:pt x="122720" y="169600"/>
                  <a:pt x="128588" y="185737"/>
                </a:cubicBezTo>
                <a:cubicBezTo>
                  <a:pt x="142009" y="222645"/>
                  <a:pt x="144744" y="262780"/>
                  <a:pt x="157163" y="300037"/>
                </a:cubicBezTo>
                <a:cubicBezTo>
                  <a:pt x="161925" y="314325"/>
                  <a:pt x="164136" y="329735"/>
                  <a:pt x="171450" y="342900"/>
                </a:cubicBezTo>
                <a:cubicBezTo>
                  <a:pt x="188128" y="372921"/>
                  <a:pt x="200025" y="409575"/>
                  <a:pt x="228600" y="428625"/>
                </a:cubicBezTo>
                <a:cubicBezTo>
                  <a:pt x="270745" y="456721"/>
                  <a:pt x="279948" y="458809"/>
                  <a:pt x="314325" y="500062"/>
                </a:cubicBezTo>
                <a:cubicBezTo>
                  <a:pt x="413775" y="619402"/>
                  <a:pt x="260549" y="460576"/>
                  <a:pt x="385763" y="585787"/>
                </a:cubicBezTo>
                <a:cubicBezTo>
                  <a:pt x="390525" y="600075"/>
                  <a:pt x="390642" y="616890"/>
                  <a:pt x="400050" y="628650"/>
                </a:cubicBezTo>
                <a:cubicBezTo>
                  <a:pt x="420193" y="653829"/>
                  <a:pt x="457539" y="662100"/>
                  <a:pt x="485775" y="671512"/>
                </a:cubicBezTo>
                <a:cubicBezTo>
                  <a:pt x="500063" y="681037"/>
                  <a:pt x="517330" y="687164"/>
                  <a:pt x="528638" y="700087"/>
                </a:cubicBezTo>
                <a:cubicBezTo>
                  <a:pt x="528643" y="700092"/>
                  <a:pt x="600074" y="807241"/>
                  <a:pt x="614363" y="828675"/>
                </a:cubicBezTo>
                <a:cubicBezTo>
                  <a:pt x="635000" y="859630"/>
                  <a:pt x="646114" y="888206"/>
                  <a:pt x="685800" y="900112"/>
                </a:cubicBezTo>
                <a:cubicBezTo>
                  <a:pt x="718056" y="909789"/>
                  <a:pt x="752475" y="909637"/>
                  <a:pt x="785813" y="914400"/>
                </a:cubicBezTo>
                <a:cubicBezTo>
                  <a:pt x="800100" y="933450"/>
                  <a:pt x="814834" y="952173"/>
                  <a:pt x="828675" y="971550"/>
                </a:cubicBezTo>
                <a:cubicBezTo>
                  <a:pt x="838656" y="985523"/>
                  <a:pt x="845108" y="1002270"/>
                  <a:pt x="857250" y="1014412"/>
                </a:cubicBezTo>
                <a:cubicBezTo>
                  <a:pt x="869392" y="1026554"/>
                  <a:pt x="887279" y="1031579"/>
                  <a:pt x="900113" y="1042987"/>
                </a:cubicBezTo>
                <a:cubicBezTo>
                  <a:pt x="930317" y="1069835"/>
                  <a:pt x="947501" y="1115933"/>
                  <a:pt x="985838" y="1128712"/>
                </a:cubicBezTo>
                <a:lnTo>
                  <a:pt x="1071563" y="1157287"/>
                </a:lnTo>
                <a:lnTo>
                  <a:pt x="1200150" y="1243012"/>
                </a:lnTo>
                <a:cubicBezTo>
                  <a:pt x="1214438" y="1252537"/>
                  <a:pt x="1230871" y="1259445"/>
                  <a:pt x="1243013" y="1271587"/>
                </a:cubicBezTo>
                <a:cubicBezTo>
                  <a:pt x="1296524" y="1325099"/>
                  <a:pt x="1266706" y="1308061"/>
                  <a:pt x="1328738" y="1328737"/>
                </a:cubicBezTo>
                <a:cubicBezTo>
                  <a:pt x="1394242" y="1426993"/>
                  <a:pt x="1353308" y="1403601"/>
                  <a:pt x="1428750" y="1428750"/>
                </a:cubicBezTo>
                <a:cubicBezTo>
                  <a:pt x="1454496" y="1454495"/>
                  <a:pt x="1479667" y="1485269"/>
                  <a:pt x="1514475" y="1500187"/>
                </a:cubicBezTo>
                <a:cubicBezTo>
                  <a:pt x="1532524" y="1507922"/>
                  <a:pt x="1552575" y="1509712"/>
                  <a:pt x="1571625" y="1514475"/>
                </a:cubicBezTo>
                <a:cubicBezTo>
                  <a:pt x="1585913" y="1524000"/>
                  <a:pt x="1601654" y="1531642"/>
                  <a:pt x="1614488" y="1543050"/>
                </a:cubicBezTo>
                <a:cubicBezTo>
                  <a:pt x="1761292" y="1673542"/>
                  <a:pt x="1645795" y="1592496"/>
                  <a:pt x="1743075" y="1657350"/>
                </a:cubicBezTo>
                <a:cubicBezTo>
                  <a:pt x="1747838" y="1671637"/>
                  <a:pt x="1747955" y="1688452"/>
                  <a:pt x="1757363" y="1700212"/>
                </a:cubicBezTo>
                <a:cubicBezTo>
                  <a:pt x="1768090" y="1713620"/>
                  <a:pt x="1800225" y="1728787"/>
                  <a:pt x="1800225" y="1728787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305" tIns="35652" rIns="71305" bIns="35652" rtlCol="0" anchor="ctr"/>
          <a:lstStyle/>
          <a:p>
            <a:pPr algn="ctr"/>
            <a:endParaRPr lang="fr-FR"/>
          </a:p>
        </p:txBody>
      </p:sp>
      <p:sp>
        <p:nvSpPr>
          <p:cNvPr id="19" name="Forme libre 18"/>
          <p:cNvSpPr/>
          <p:nvPr/>
        </p:nvSpPr>
        <p:spPr>
          <a:xfrm>
            <a:off x="6156176" y="1844824"/>
            <a:ext cx="2741856" cy="2100399"/>
          </a:xfrm>
          <a:custGeom>
            <a:avLst/>
            <a:gdLst>
              <a:gd name="connsiteX0" fmla="*/ 0 w 3886200"/>
              <a:gd name="connsiteY0" fmla="*/ 0 h 2315301"/>
              <a:gd name="connsiteX1" fmla="*/ 71438 w 3886200"/>
              <a:gd name="connsiteY1" fmla="*/ 57150 h 2315301"/>
              <a:gd name="connsiteX2" fmla="*/ 171450 w 3886200"/>
              <a:gd name="connsiteY2" fmla="*/ 85725 h 2315301"/>
              <a:gd name="connsiteX3" fmla="*/ 214313 w 3886200"/>
              <a:gd name="connsiteY3" fmla="*/ 114300 h 2315301"/>
              <a:gd name="connsiteX4" fmla="*/ 271463 w 3886200"/>
              <a:gd name="connsiteY4" fmla="*/ 200025 h 2315301"/>
              <a:gd name="connsiteX5" fmla="*/ 314325 w 3886200"/>
              <a:gd name="connsiteY5" fmla="*/ 214313 h 2315301"/>
              <a:gd name="connsiteX6" fmla="*/ 528638 w 3886200"/>
              <a:gd name="connsiteY6" fmla="*/ 271463 h 2315301"/>
              <a:gd name="connsiteX7" fmla="*/ 614363 w 3886200"/>
              <a:gd name="connsiteY7" fmla="*/ 300038 h 2315301"/>
              <a:gd name="connsiteX8" fmla="*/ 657225 w 3886200"/>
              <a:gd name="connsiteY8" fmla="*/ 314325 h 2315301"/>
              <a:gd name="connsiteX9" fmla="*/ 700088 w 3886200"/>
              <a:gd name="connsiteY9" fmla="*/ 400050 h 2315301"/>
              <a:gd name="connsiteX10" fmla="*/ 800100 w 3886200"/>
              <a:gd name="connsiteY10" fmla="*/ 428625 h 2315301"/>
              <a:gd name="connsiteX11" fmla="*/ 900113 w 3886200"/>
              <a:gd name="connsiteY11" fmla="*/ 500063 h 2315301"/>
              <a:gd name="connsiteX12" fmla="*/ 957263 w 3886200"/>
              <a:gd name="connsiteY12" fmla="*/ 571500 h 2315301"/>
              <a:gd name="connsiteX13" fmla="*/ 985838 w 3886200"/>
              <a:gd name="connsiteY13" fmla="*/ 614363 h 2315301"/>
              <a:gd name="connsiteX14" fmla="*/ 1028700 w 3886200"/>
              <a:gd name="connsiteY14" fmla="*/ 628650 h 2315301"/>
              <a:gd name="connsiteX15" fmla="*/ 1042988 w 3886200"/>
              <a:gd name="connsiteY15" fmla="*/ 671513 h 2315301"/>
              <a:gd name="connsiteX16" fmla="*/ 1085850 w 3886200"/>
              <a:gd name="connsiteY16" fmla="*/ 685800 h 2315301"/>
              <a:gd name="connsiteX17" fmla="*/ 1157288 w 3886200"/>
              <a:gd name="connsiteY17" fmla="*/ 714375 h 2315301"/>
              <a:gd name="connsiteX18" fmla="*/ 1243013 w 3886200"/>
              <a:gd name="connsiteY18" fmla="*/ 771525 h 2315301"/>
              <a:gd name="connsiteX19" fmla="*/ 1285875 w 3886200"/>
              <a:gd name="connsiteY19" fmla="*/ 800100 h 2315301"/>
              <a:gd name="connsiteX20" fmla="*/ 1371600 w 3886200"/>
              <a:gd name="connsiteY20" fmla="*/ 828675 h 2315301"/>
              <a:gd name="connsiteX21" fmla="*/ 1414463 w 3886200"/>
              <a:gd name="connsiteY21" fmla="*/ 857250 h 2315301"/>
              <a:gd name="connsiteX22" fmla="*/ 1500188 w 3886200"/>
              <a:gd name="connsiteY22" fmla="*/ 885825 h 2315301"/>
              <a:gd name="connsiteX23" fmla="*/ 1543050 w 3886200"/>
              <a:gd name="connsiteY23" fmla="*/ 914400 h 2315301"/>
              <a:gd name="connsiteX24" fmla="*/ 1585913 w 3886200"/>
              <a:gd name="connsiteY24" fmla="*/ 928688 h 2315301"/>
              <a:gd name="connsiteX25" fmla="*/ 1671638 w 3886200"/>
              <a:gd name="connsiteY25" fmla="*/ 985838 h 2315301"/>
              <a:gd name="connsiteX26" fmla="*/ 1728788 w 3886200"/>
              <a:gd name="connsiteY26" fmla="*/ 1000125 h 2315301"/>
              <a:gd name="connsiteX27" fmla="*/ 1814513 w 3886200"/>
              <a:gd name="connsiteY27" fmla="*/ 1028700 h 2315301"/>
              <a:gd name="connsiteX28" fmla="*/ 1857375 w 3886200"/>
              <a:gd name="connsiteY28" fmla="*/ 1057275 h 2315301"/>
              <a:gd name="connsiteX29" fmla="*/ 1900238 w 3886200"/>
              <a:gd name="connsiteY29" fmla="*/ 1143000 h 2315301"/>
              <a:gd name="connsiteX30" fmla="*/ 1943100 w 3886200"/>
              <a:gd name="connsiteY30" fmla="*/ 1157288 h 2315301"/>
              <a:gd name="connsiteX31" fmla="*/ 2028825 w 3886200"/>
              <a:gd name="connsiteY31" fmla="*/ 1214438 h 2315301"/>
              <a:gd name="connsiteX32" fmla="*/ 2071688 w 3886200"/>
              <a:gd name="connsiteY32" fmla="*/ 1243013 h 2315301"/>
              <a:gd name="connsiteX33" fmla="*/ 2114550 w 3886200"/>
              <a:gd name="connsiteY33" fmla="*/ 1257300 h 2315301"/>
              <a:gd name="connsiteX34" fmla="*/ 2185988 w 3886200"/>
              <a:gd name="connsiteY34" fmla="*/ 1328738 h 2315301"/>
              <a:gd name="connsiteX35" fmla="*/ 2286000 w 3886200"/>
              <a:gd name="connsiteY35" fmla="*/ 1400175 h 2315301"/>
              <a:gd name="connsiteX36" fmla="*/ 2371725 w 3886200"/>
              <a:gd name="connsiteY36" fmla="*/ 1428750 h 2315301"/>
              <a:gd name="connsiteX37" fmla="*/ 2414588 w 3886200"/>
              <a:gd name="connsiteY37" fmla="*/ 1457325 h 2315301"/>
              <a:gd name="connsiteX38" fmla="*/ 2514600 w 3886200"/>
              <a:gd name="connsiteY38" fmla="*/ 1514475 h 2315301"/>
              <a:gd name="connsiteX39" fmla="*/ 2600325 w 3886200"/>
              <a:gd name="connsiteY39" fmla="*/ 1600200 h 2315301"/>
              <a:gd name="connsiteX40" fmla="*/ 2643188 w 3886200"/>
              <a:gd name="connsiteY40" fmla="*/ 1628775 h 2315301"/>
              <a:gd name="connsiteX41" fmla="*/ 2728913 w 3886200"/>
              <a:gd name="connsiteY41" fmla="*/ 1657350 h 2315301"/>
              <a:gd name="connsiteX42" fmla="*/ 2814638 w 3886200"/>
              <a:gd name="connsiteY42" fmla="*/ 1700213 h 2315301"/>
              <a:gd name="connsiteX43" fmla="*/ 2857500 w 3886200"/>
              <a:gd name="connsiteY43" fmla="*/ 1728788 h 2315301"/>
              <a:gd name="connsiteX44" fmla="*/ 2943225 w 3886200"/>
              <a:gd name="connsiteY44" fmla="*/ 1757363 h 2315301"/>
              <a:gd name="connsiteX45" fmla="*/ 2986088 w 3886200"/>
              <a:gd name="connsiteY45" fmla="*/ 1785938 h 2315301"/>
              <a:gd name="connsiteX46" fmla="*/ 3143250 w 3886200"/>
              <a:gd name="connsiteY46" fmla="*/ 1800225 h 2315301"/>
              <a:gd name="connsiteX47" fmla="*/ 3243263 w 3886200"/>
              <a:gd name="connsiteY47" fmla="*/ 1828800 h 2315301"/>
              <a:gd name="connsiteX48" fmla="*/ 3343275 w 3886200"/>
              <a:gd name="connsiteY48" fmla="*/ 1871663 h 2315301"/>
              <a:gd name="connsiteX49" fmla="*/ 3400425 w 3886200"/>
              <a:gd name="connsiteY49" fmla="*/ 1957388 h 2315301"/>
              <a:gd name="connsiteX50" fmla="*/ 3443288 w 3886200"/>
              <a:gd name="connsiteY50" fmla="*/ 1971675 h 2315301"/>
              <a:gd name="connsiteX51" fmla="*/ 3529013 w 3886200"/>
              <a:gd name="connsiteY51" fmla="*/ 2043113 h 2315301"/>
              <a:gd name="connsiteX52" fmla="*/ 3657600 w 3886200"/>
              <a:gd name="connsiteY52" fmla="*/ 2114550 h 2315301"/>
              <a:gd name="connsiteX53" fmla="*/ 3700463 w 3886200"/>
              <a:gd name="connsiteY53" fmla="*/ 2157413 h 2315301"/>
              <a:gd name="connsiteX54" fmla="*/ 3786188 w 3886200"/>
              <a:gd name="connsiteY54" fmla="*/ 2228850 h 2315301"/>
              <a:gd name="connsiteX55" fmla="*/ 3800475 w 3886200"/>
              <a:gd name="connsiteY55" fmla="*/ 2286000 h 2315301"/>
              <a:gd name="connsiteX56" fmla="*/ 3886200 w 3886200"/>
              <a:gd name="connsiteY56" fmla="*/ 2314575 h 2315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886200" h="2315301">
                <a:moveTo>
                  <a:pt x="0" y="0"/>
                </a:moveTo>
                <a:cubicBezTo>
                  <a:pt x="23813" y="19050"/>
                  <a:pt x="45578" y="40988"/>
                  <a:pt x="71438" y="57150"/>
                </a:cubicBezTo>
                <a:cubicBezTo>
                  <a:pt x="85106" y="65693"/>
                  <a:pt x="162043" y="83373"/>
                  <a:pt x="171450" y="85725"/>
                </a:cubicBezTo>
                <a:cubicBezTo>
                  <a:pt x="185738" y="95250"/>
                  <a:pt x="203586" y="100891"/>
                  <a:pt x="214313" y="114300"/>
                </a:cubicBezTo>
                <a:cubicBezTo>
                  <a:pt x="274232" y="189199"/>
                  <a:pt x="165302" y="129251"/>
                  <a:pt x="271463" y="200025"/>
                </a:cubicBezTo>
                <a:cubicBezTo>
                  <a:pt x="283994" y="208379"/>
                  <a:pt x="300038" y="209550"/>
                  <a:pt x="314325" y="214313"/>
                </a:cubicBezTo>
                <a:cubicBezTo>
                  <a:pt x="404490" y="304476"/>
                  <a:pt x="317893" y="236338"/>
                  <a:pt x="528638" y="271463"/>
                </a:cubicBezTo>
                <a:cubicBezTo>
                  <a:pt x="558349" y="276415"/>
                  <a:pt x="585788" y="290513"/>
                  <a:pt x="614363" y="300038"/>
                </a:cubicBezTo>
                <a:lnTo>
                  <a:pt x="657225" y="314325"/>
                </a:lnTo>
                <a:cubicBezTo>
                  <a:pt x="666637" y="342561"/>
                  <a:pt x="674909" y="379907"/>
                  <a:pt x="700088" y="400050"/>
                </a:cubicBezTo>
                <a:cubicBezTo>
                  <a:pt x="709407" y="407505"/>
                  <a:pt x="796363" y="427691"/>
                  <a:pt x="800100" y="428625"/>
                </a:cubicBezTo>
                <a:cubicBezTo>
                  <a:pt x="819647" y="441656"/>
                  <a:pt x="889035" y="486769"/>
                  <a:pt x="900113" y="500063"/>
                </a:cubicBezTo>
                <a:cubicBezTo>
                  <a:pt x="986375" y="603578"/>
                  <a:pt x="825994" y="483989"/>
                  <a:pt x="957263" y="571500"/>
                </a:cubicBezTo>
                <a:cubicBezTo>
                  <a:pt x="966788" y="585788"/>
                  <a:pt x="972429" y="603636"/>
                  <a:pt x="985838" y="614363"/>
                </a:cubicBezTo>
                <a:cubicBezTo>
                  <a:pt x="997598" y="623771"/>
                  <a:pt x="1018051" y="618001"/>
                  <a:pt x="1028700" y="628650"/>
                </a:cubicBezTo>
                <a:cubicBezTo>
                  <a:pt x="1039349" y="639299"/>
                  <a:pt x="1032339" y="660864"/>
                  <a:pt x="1042988" y="671513"/>
                </a:cubicBezTo>
                <a:cubicBezTo>
                  <a:pt x="1053637" y="682162"/>
                  <a:pt x="1071749" y="680512"/>
                  <a:pt x="1085850" y="685800"/>
                </a:cubicBezTo>
                <a:cubicBezTo>
                  <a:pt x="1109864" y="694805"/>
                  <a:pt x="1134773" y="702094"/>
                  <a:pt x="1157288" y="714375"/>
                </a:cubicBezTo>
                <a:cubicBezTo>
                  <a:pt x="1187437" y="730820"/>
                  <a:pt x="1214438" y="752475"/>
                  <a:pt x="1243013" y="771525"/>
                </a:cubicBezTo>
                <a:cubicBezTo>
                  <a:pt x="1257300" y="781050"/>
                  <a:pt x="1269585" y="794670"/>
                  <a:pt x="1285875" y="800100"/>
                </a:cubicBezTo>
                <a:lnTo>
                  <a:pt x="1371600" y="828675"/>
                </a:lnTo>
                <a:cubicBezTo>
                  <a:pt x="1385888" y="838200"/>
                  <a:pt x="1398771" y="850276"/>
                  <a:pt x="1414463" y="857250"/>
                </a:cubicBezTo>
                <a:cubicBezTo>
                  <a:pt x="1441988" y="869483"/>
                  <a:pt x="1500188" y="885825"/>
                  <a:pt x="1500188" y="885825"/>
                </a:cubicBezTo>
                <a:cubicBezTo>
                  <a:pt x="1514475" y="895350"/>
                  <a:pt x="1527692" y="906721"/>
                  <a:pt x="1543050" y="914400"/>
                </a:cubicBezTo>
                <a:cubicBezTo>
                  <a:pt x="1556521" y="921135"/>
                  <a:pt x="1573382" y="920334"/>
                  <a:pt x="1585913" y="928688"/>
                </a:cubicBezTo>
                <a:cubicBezTo>
                  <a:pt x="1675842" y="988641"/>
                  <a:pt x="1582462" y="960359"/>
                  <a:pt x="1671638" y="985838"/>
                </a:cubicBezTo>
                <a:cubicBezTo>
                  <a:pt x="1690519" y="991232"/>
                  <a:pt x="1709980" y="994483"/>
                  <a:pt x="1728788" y="1000125"/>
                </a:cubicBezTo>
                <a:cubicBezTo>
                  <a:pt x="1757638" y="1008780"/>
                  <a:pt x="1814513" y="1028700"/>
                  <a:pt x="1814513" y="1028700"/>
                </a:cubicBezTo>
                <a:cubicBezTo>
                  <a:pt x="1828800" y="1038225"/>
                  <a:pt x="1846648" y="1043866"/>
                  <a:pt x="1857375" y="1057275"/>
                </a:cubicBezTo>
                <a:cubicBezTo>
                  <a:pt x="1903389" y="1114793"/>
                  <a:pt x="1833328" y="1089471"/>
                  <a:pt x="1900238" y="1143000"/>
                </a:cubicBezTo>
                <a:cubicBezTo>
                  <a:pt x="1911998" y="1152408"/>
                  <a:pt x="1928813" y="1152525"/>
                  <a:pt x="1943100" y="1157288"/>
                </a:cubicBezTo>
                <a:cubicBezTo>
                  <a:pt x="1993324" y="1232624"/>
                  <a:pt x="1942715" y="1177534"/>
                  <a:pt x="2028825" y="1214438"/>
                </a:cubicBezTo>
                <a:cubicBezTo>
                  <a:pt x="2044608" y="1221202"/>
                  <a:pt x="2056329" y="1235334"/>
                  <a:pt x="2071688" y="1243013"/>
                </a:cubicBezTo>
                <a:cubicBezTo>
                  <a:pt x="2085158" y="1249748"/>
                  <a:pt x="2100263" y="1252538"/>
                  <a:pt x="2114550" y="1257300"/>
                </a:cubicBezTo>
                <a:cubicBezTo>
                  <a:pt x="2228851" y="1333500"/>
                  <a:pt x="2090737" y="1233487"/>
                  <a:pt x="2185988" y="1328738"/>
                </a:cubicBezTo>
                <a:cubicBezTo>
                  <a:pt x="2190208" y="1332958"/>
                  <a:pt x="2271399" y="1393686"/>
                  <a:pt x="2286000" y="1400175"/>
                </a:cubicBezTo>
                <a:cubicBezTo>
                  <a:pt x="2313525" y="1412408"/>
                  <a:pt x="2371725" y="1428750"/>
                  <a:pt x="2371725" y="1428750"/>
                </a:cubicBezTo>
                <a:cubicBezTo>
                  <a:pt x="2386013" y="1438275"/>
                  <a:pt x="2399679" y="1448806"/>
                  <a:pt x="2414588" y="1457325"/>
                </a:cubicBezTo>
                <a:cubicBezTo>
                  <a:pt x="2450810" y="1478023"/>
                  <a:pt x="2483271" y="1486627"/>
                  <a:pt x="2514600" y="1514475"/>
                </a:cubicBezTo>
                <a:cubicBezTo>
                  <a:pt x="2544804" y="1541323"/>
                  <a:pt x="2566701" y="1577784"/>
                  <a:pt x="2600325" y="1600200"/>
                </a:cubicBezTo>
                <a:cubicBezTo>
                  <a:pt x="2614613" y="1609725"/>
                  <a:pt x="2627496" y="1621801"/>
                  <a:pt x="2643188" y="1628775"/>
                </a:cubicBezTo>
                <a:cubicBezTo>
                  <a:pt x="2670713" y="1641008"/>
                  <a:pt x="2728913" y="1657350"/>
                  <a:pt x="2728913" y="1657350"/>
                </a:cubicBezTo>
                <a:cubicBezTo>
                  <a:pt x="2851748" y="1739241"/>
                  <a:pt x="2696333" y="1641060"/>
                  <a:pt x="2814638" y="1700213"/>
                </a:cubicBezTo>
                <a:cubicBezTo>
                  <a:pt x="2829996" y="1707892"/>
                  <a:pt x="2841809" y="1721814"/>
                  <a:pt x="2857500" y="1728788"/>
                </a:cubicBezTo>
                <a:cubicBezTo>
                  <a:pt x="2885025" y="1741021"/>
                  <a:pt x="2918163" y="1740655"/>
                  <a:pt x="2943225" y="1757363"/>
                </a:cubicBezTo>
                <a:cubicBezTo>
                  <a:pt x="2957513" y="1766888"/>
                  <a:pt x="2969298" y="1782340"/>
                  <a:pt x="2986088" y="1785938"/>
                </a:cubicBezTo>
                <a:cubicBezTo>
                  <a:pt x="3037524" y="1796960"/>
                  <a:pt x="3090863" y="1795463"/>
                  <a:pt x="3143250" y="1800225"/>
                </a:cubicBezTo>
                <a:cubicBezTo>
                  <a:pt x="3172243" y="1807474"/>
                  <a:pt x="3214573" y="1816504"/>
                  <a:pt x="3243263" y="1828800"/>
                </a:cubicBezTo>
                <a:cubicBezTo>
                  <a:pt x="3366866" y="1881772"/>
                  <a:pt x="3242743" y="1838151"/>
                  <a:pt x="3343275" y="1871663"/>
                </a:cubicBezTo>
                <a:cubicBezTo>
                  <a:pt x="3358254" y="1916599"/>
                  <a:pt x="3354559" y="1926811"/>
                  <a:pt x="3400425" y="1957388"/>
                </a:cubicBezTo>
                <a:cubicBezTo>
                  <a:pt x="3412956" y="1965742"/>
                  <a:pt x="3429000" y="1966913"/>
                  <a:pt x="3443288" y="1971675"/>
                </a:cubicBezTo>
                <a:cubicBezTo>
                  <a:pt x="3596456" y="2073788"/>
                  <a:pt x="3363992" y="1914763"/>
                  <a:pt x="3529013" y="2043113"/>
                </a:cubicBezTo>
                <a:cubicBezTo>
                  <a:pt x="3602705" y="2100429"/>
                  <a:pt x="3592929" y="2092994"/>
                  <a:pt x="3657600" y="2114550"/>
                </a:cubicBezTo>
                <a:cubicBezTo>
                  <a:pt x="3671888" y="2128838"/>
                  <a:pt x="3684941" y="2144478"/>
                  <a:pt x="3700463" y="2157413"/>
                </a:cubicBezTo>
                <a:cubicBezTo>
                  <a:pt x="3819821" y="2256878"/>
                  <a:pt x="3660953" y="2103618"/>
                  <a:pt x="3786188" y="2228850"/>
                </a:cubicBezTo>
                <a:cubicBezTo>
                  <a:pt x="3790950" y="2247900"/>
                  <a:pt x="3789583" y="2269662"/>
                  <a:pt x="3800475" y="2286000"/>
                </a:cubicBezTo>
                <a:cubicBezTo>
                  <a:pt x="3824808" y="2322500"/>
                  <a:pt x="3851475" y="2314575"/>
                  <a:pt x="3886200" y="2314575"/>
                </a:cubicBezTo>
              </a:path>
            </a:pathLst>
          </a:cu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305" tIns="35652" rIns="71305" bIns="35652"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64608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688</Words>
  <Application>Microsoft Office PowerPoint</Application>
  <PresentationFormat>Affichage à l'écran (4:3)</PresentationFormat>
  <Paragraphs>82</Paragraphs>
  <Slides>9</Slides>
  <Notes>1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1" baseType="lpstr">
      <vt:lpstr>Thème Office</vt:lpstr>
      <vt:lpstr>Image bitmap</vt:lpstr>
      <vt:lpstr>GEOCHRONOLOGIE  RELATIVE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hy</dc:creator>
  <cp:lastModifiedBy>hy</cp:lastModifiedBy>
  <cp:revision>21</cp:revision>
  <dcterms:created xsi:type="dcterms:W3CDTF">2022-10-27T13:38:11Z</dcterms:created>
  <dcterms:modified xsi:type="dcterms:W3CDTF">2023-11-15T18:16:44Z</dcterms:modified>
</cp:coreProperties>
</file>